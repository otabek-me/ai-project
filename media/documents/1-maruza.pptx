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pos="302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 showGuides="1">
      <p:cViewPr varScale="1">
        <p:scale>
          <a:sx n="137" d="100"/>
          <a:sy n="137" d="100"/>
        </p:scale>
        <p:origin x="79" y="62"/>
      </p:cViewPr>
      <p:guideLst>
        <p:guide orient="horz" pos="2160"/>
        <p:guide pos="3840"/>
        <p:guide pos="7333"/>
        <p:guide pos="302"/>
        <p:guide orient="horz" pos="4020"/>
        <p:guide orient="horz" pos="3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783A2-C6A6-4025-BA67-20DC48081752}" type="datetimeFigureOut">
              <a:rPr lang="ru-RU" smtClean="0"/>
              <a:t>20.09.2024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F965F-71B3-4198-954E-E8C0EFC03A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783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77ae687167_0_1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77ae687167_0_1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55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08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274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147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4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724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11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6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60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279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32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9/20/2024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43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5F60170-91B4-45F0-B88B-9C07AEC46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6B946-F89A-06EF-9B5B-8755C2B14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007" y="2560322"/>
            <a:ext cx="5614993" cy="179500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1-MA’RUZA. SUN'IY INTELLEKTGA FANIGA KIRISH VA UNING RIVOJLANISH TARIXI</a:t>
            </a:r>
            <a:endParaRPr lang="ru-RU" sz="40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1E3336-DB04-CDED-3FC1-FC0CB6C0C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07" y="5878276"/>
            <a:ext cx="5614993" cy="482849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Bahnschrift Light Condensed" panose="020B0502040204020203" pitchFamily="34" charset="0"/>
              </a:rPr>
              <a:t>Qudrat Yuldashev</a:t>
            </a:r>
            <a:endParaRPr lang="ru-RU" dirty="0">
              <a:latin typeface="Bahnschrift Light Condensed" panose="020B0502040204020203" pitchFamily="34" charset="0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092E22A4-23DD-C4A1-AC23-9DAD456B11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3" t="215" r="25000" b="-214"/>
          <a:stretch/>
        </p:blipFill>
        <p:spPr bwMode="auto">
          <a:xfrm>
            <a:off x="6280340" y="489856"/>
            <a:ext cx="5349331" cy="5878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2C84CC28-1690-471E-9AE2-3198EB863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526E6137-4B85-4A65-BCC4-9BAB3D0D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30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E21DC-381C-B7FB-A674-3F05D40CA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63168"/>
            <a:ext cx="4482274" cy="134889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Sun’iy</a:t>
            </a:r>
            <a:r>
              <a:rPr lang="en-US" sz="4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intellekt</a:t>
            </a:r>
            <a:r>
              <a:rPr lang="en-US" sz="4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nima</a:t>
            </a:r>
            <a:r>
              <a:rPr lang="en-US" sz="4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?</a:t>
            </a:r>
            <a:endParaRPr lang="ru-RU" sz="44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E6F756-3411-45D8-5A0D-231BA99C8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3087981"/>
            <a:ext cx="4482274" cy="2697479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Bahnschrift Light Condensed" panose="020B0502040204020203" pitchFamily="34" charset="0"/>
              </a:rPr>
              <a:t>S</a:t>
            </a:r>
            <a:r>
              <a:rPr lang="uz-Latn-UZ" dirty="0">
                <a:latin typeface="Bahnschrift Light Condensed" panose="020B0502040204020203" pitchFamily="34" charset="0"/>
              </a:rPr>
              <a:t>haxsiy kompyuterlar yoki boshqa qurilmalar yordamida inson aql-idrokiga o'xshash vazifalarni bajaradigan algoritmlar va dasturlar</a:t>
            </a:r>
            <a:r>
              <a:rPr lang="en-US" dirty="0">
                <a:latin typeface="Bahnschrift Light Condensed" panose="020B0502040204020203" pitchFamily="34" charset="0"/>
              </a:rPr>
              <a:t> </a:t>
            </a:r>
            <a:r>
              <a:rPr lang="en-US" dirty="0" err="1">
                <a:latin typeface="Bahnschrift Light Condensed" panose="020B0502040204020203" pitchFamily="34" charset="0"/>
              </a:rPr>
              <a:t>majmuiga</a:t>
            </a:r>
            <a:r>
              <a:rPr lang="en-US" dirty="0">
                <a:latin typeface="Bahnschrift Light Condensed" panose="020B0502040204020203" pitchFamily="34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sun’iy</a:t>
            </a:r>
            <a:r>
              <a:rPr lang="en-US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intellekt</a:t>
            </a:r>
            <a:r>
              <a:rPr lang="en-US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tizimlari</a:t>
            </a:r>
            <a:r>
              <a:rPr lang="en-US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dirty="0" err="1">
                <a:latin typeface="Bahnschrift Light Condensed" panose="020B0502040204020203" pitchFamily="34" charset="0"/>
              </a:rPr>
              <a:t>aytiladi</a:t>
            </a:r>
            <a:endParaRPr lang="ru-RU" dirty="0">
              <a:latin typeface="Bahnschrift Light Condensed" panose="020B0502040204020203" pitchFamily="34" charset="0"/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DE69A367-4F60-34D8-456F-CE3C36409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3" r="14837"/>
          <a:stretch/>
        </p:blipFill>
        <p:spPr bwMode="auto">
          <a:xfrm>
            <a:off x="5040694" y="489856"/>
            <a:ext cx="6588977" cy="5878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06A9FE31-8E40-4AAC-8B90-1AD6D7520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52CE755F-6139-4A64-8874-30A9A3EFB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31E7D94-10C3-9F52-44DF-71F1FD626E91}"/>
              </a:ext>
            </a:extLst>
          </p:cNvPr>
          <p:cNvSpPr/>
          <p:nvPr/>
        </p:nvSpPr>
        <p:spPr>
          <a:xfrm flipV="1">
            <a:off x="562329" y="2053646"/>
            <a:ext cx="2700000" cy="36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575027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4EA33-65F4-A710-7D5E-14848FC2F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65921"/>
            <a:ext cx="5613399" cy="617593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40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TARIX</a:t>
            </a:r>
            <a:endParaRPr lang="ru-RU" sz="40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C41BB1-487B-5900-7C9F-FF41A872A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459579"/>
            <a:ext cx="5613400" cy="463005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uz-Latn-UZ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Sun'iy intellekt </a:t>
            </a:r>
            <a:r>
              <a:rPr lang="uz-Latn-UZ" dirty="0">
                <a:latin typeface="Bahnschrift Light Condensed" panose="020B0502040204020203" pitchFamily="34" charset="0"/>
              </a:rPr>
              <a:t>atamasi birinchi marta </a:t>
            </a:r>
            <a:r>
              <a:rPr lang="uz-Latn-UZ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1956-yil</a:t>
            </a:r>
            <a:r>
              <a:rPr lang="uz-Latn-UZ" dirty="0">
                <a:latin typeface="Bahnschrift Light Condensed" panose="020B0502040204020203" pitchFamily="34" charset="0"/>
              </a:rPr>
              <a:t>da mashhur kompyuter olimi </a:t>
            </a:r>
            <a:r>
              <a:rPr lang="uz-Latn-UZ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Jon MakKarti (John McCarthy) </a:t>
            </a:r>
            <a:r>
              <a:rPr lang="uz-Latn-UZ" dirty="0">
                <a:latin typeface="Bahnschrift Light Condensed" panose="020B0502040204020203" pitchFamily="34" charset="0"/>
              </a:rPr>
              <a:t>tomonidan ishlatilgan. Bu termin o'sha yili </a:t>
            </a:r>
            <a:r>
              <a:rPr lang="uz-Latn-UZ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Dartmut konferensiyasida </a:t>
            </a:r>
            <a:r>
              <a:rPr lang="uz-Latn-UZ" dirty="0">
                <a:latin typeface="Bahnschrift Light Condensed" panose="020B0502040204020203" pitchFamily="34" charset="0"/>
              </a:rPr>
              <a:t>kiritilgan bo'lib, ilmiy tadqiqotchilar </a:t>
            </a:r>
            <a:r>
              <a:rPr lang="uz-Latn-UZ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birinchi marta</a:t>
            </a:r>
            <a:r>
              <a:rPr lang="uz-Latn-UZ" b="1" dirty="0">
                <a:latin typeface="Bahnschrift Light Condensed" panose="020B0502040204020203" pitchFamily="34" charset="0"/>
              </a:rPr>
              <a:t> </a:t>
            </a:r>
            <a:r>
              <a:rPr lang="uz-Latn-UZ" dirty="0">
                <a:latin typeface="Bahnschrift Light Condensed" panose="020B0502040204020203" pitchFamily="34" charset="0"/>
              </a:rPr>
              <a:t>mashinani inson kabi o'ylashga qodir qiladigan tizimlar yaratish bo'yicha aniq maqsadlarni muhokama qilishdi.</a:t>
            </a:r>
            <a:endParaRPr lang="ru-RU" dirty="0">
              <a:latin typeface="Bahnschrift Light Condensed" panose="020B0502040204020203" pitchFamily="34" charset="0"/>
            </a:endParaRP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758D57E1-9A10-B271-BFAC-6F7EA198F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31" r="1" b="4980"/>
          <a:stretch/>
        </p:blipFill>
        <p:spPr bwMode="auto">
          <a:xfrm>
            <a:off x="6280340" y="489856"/>
            <a:ext cx="5349331" cy="5878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0BE13636-D998-4A75-8C1B-EDBD9E57D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6672E4D5-7CCB-4D76-86FF-83359027D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3365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2550333" y="1307989"/>
            <a:ext cx="306800" cy="2100365"/>
          </a:xfrm>
          <a:custGeom>
            <a:avLst/>
            <a:gdLst/>
            <a:ahLst/>
            <a:cxnLst/>
            <a:rect l="l" t="t" r="r" b="b"/>
            <a:pathLst>
              <a:path w="9204" h="44792" extrusionOk="0">
                <a:moveTo>
                  <a:pt x="0" y="1"/>
                </a:moveTo>
                <a:lnTo>
                  <a:pt x="0" y="33291"/>
                </a:lnTo>
                <a:cubicBezTo>
                  <a:pt x="0" y="38244"/>
                  <a:pt x="2810" y="42649"/>
                  <a:pt x="7096" y="44792"/>
                </a:cubicBezTo>
                <a:lnTo>
                  <a:pt x="9204" y="44792"/>
                </a:lnTo>
                <a:lnTo>
                  <a:pt x="9204" y="43328"/>
                </a:lnTo>
                <a:cubicBezTo>
                  <a:pt x="5025" y="41804"/>
                  <a:pt x="2179" y="37827"/>
                  <a:pt x="2179" y="33291"/>
                </a:cubicBezTo>
                <a:lnTo>
                  <a:pt x="2179" y="1"/>
                </a:lnTo>
                <a:close/>
              </a:path>
            </a:pathLst>
          </a:custGeom>
          <a:solidFill>
            <a:srgbClr val="4949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Bahnschrift Light Condensed" panose="020B0502040204020203" pitchFamily="34" charset="0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1589500" y="3258434"/>
            <a:ext cx="1512500" cy="785433"/>
          </a:xfrm>
          <a:custGeom>
            <a:avLst/>
            <a:gdLst/>
            <a:ahLst/>
            <a:cxnLst/>
            <a:rect l="l" t="t" r="r" b="b"/>
            <a:pathLst>
              <a:path w="45375" h="23563" extrusionOk="0">
                <a:moveTo>
                  <a:pt x="0" y="0"/>
                </a:moveTo>
                <a:lnTo>
                  <a:pt x="0" y="23563"/>
                </a:lnTo>
                <a:lnTo>
                  <a:pt x="33599" y="23563"/>
                </a:lnTo>
                <a:cubicBezTo>
                  <a:pt x="40100" y="23563"/>
                  <a:pt x="45375" y="18288"/>
                  <a:pt x="45375" y="11788"/>
                </a:cubicBezTo>
                <a:cubicBezTo>
                  <a:pt x="45375" y="5275"/>
                  <a:pt x="40100" y="0"/>
                  <a:pt x="33599" y="0"/>
                </a:cubicBezTo>
                <a:close/>
              </a:path>
            </a:pathLst>
          </a:custGeom>
          <a:solidFill>
            <a:srgbClr val="4949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267" dirty="0">
                <a:solidFill>
                  <a:srgbClr val="FFFFFF"/>
                </a:solidFill>
                <a:latin typeface="Bahnschrift Light Condensed" panose="020B0502040204020203" pitchFamily="34" charset="0"/>
                <a:ea typeface="Fira Sans Extra Condensed"/>
                <a:cs typeface="Fira Sans Extra Condensed"/>
                <a:sym typeface="Fira Sans Extra Condensed"/>
              </a:rPr>
              <a:t>1950</a:t>
            </a:r>
            <a:endParaRPr sz="2267" dirty="0">
              <a:solidFill>
                <a:srgbClr val="FFFFFF"/>
              </a:solidFill>
              <a:latin typeface="Bahnschrift Light Condensed" panose="020B0502040204020203" pitchFamily="34" charset="0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D3AED4CE-D56D-10D6-6475-1E9C7945CC7C}"/>
              </a:ext>
            </a:extLst>
          </p:cNvPr>
          <p:cNvGrpSpPr/>
          <p:nvPr/>
        </p:nvGrpSpPr>
        <p:grpSpPr>
          <a:xfrm>
            <a:off x="2760266" y="1354158"/>
            <a:ext cx="387367" cy="381433"/>
            <a:chOff x="2760266" y="1354158"/>
            <a:chExt cx="387367" cy="381433"/>
          </a:xfrm>
        </p:grpSpPr>
        <p:sp>
          <p:nvSpPr>
            <p:cNvPr id="59" name="Google Shape;59;p15"/>
            <p:cNvSpPr/>
            <p:nvPr/>
          </p:nvSpPr>
          <p:spPr>
            <a:xfrm>
              <a:off x="2853933" y="1444658"/>
              <a:ext cx="200067" cy="200067"/>
            </a:xfrm>
            <a:custGeom>
              <a:avLst/>
              <a:gdLst/>
              <a:ahLst/>
              <a:cxnLst/>
              <a:rect l="l" t="t" r="r" b="b"/>
              <a:pathLst>
                <a:path w="6002" h="6002" extrusionOk="0">
                  <a:moveTo>
                    <a:pt x="3001" y="536"/>
                  </a:moveTo>
                  <a:cubicBezTo>
                    <a:pt x="4358" y="536"/>
                    <a:pt x="5465" y="1643"/>
                    <a:pt x="5465" y="3001"/>
                  </a:cubicBezTo>
                  <a:cubicBezTo>
                    <a:pt x="5465" y="4370"/>
                    <a:pt x="4358" y="5465"/>
                    <a:pt x="3001" y="5465"/>
                  </a:cubicBezTo>
                  <a:cubicBezTo>
                    <a:pt x="1643" y="5465"/>
                    <a:pt x="536" y="4370"/>
                    <a:pt x="536" y="3001"/>
                  </a:cubicBezTo>
                  <a:cubicBezTo>
                    <a:pt x="536" y="1643"/>
                    <a:pt x="1643" y="536"/>
                    <a:pt x="3001" y="536"/>
                  </a:cubicBezTo>
                  <a:close/>
                  <a:moveTo>
                    <a:pt x="3001" y="0"/>
                  </a:moveTo>
                  <a:cubicBezTo>
                    <a:pt x="1346" y="0"/>
                    <a:pt x="0" y="1346"/>
                    <a:pt x="0" y="3001"/>
                  </a:cubicBezTo>
                  <a:cubicBezTo>
                    <a:pt x="0" y="4656"/>
                    <a:pt x="1346" y="6001"/>
                    <a:pt x="3001" y="6001"/>
                  </a:cubicBezTo>
                  <a:cubicBezTo>
                    <a:pt x="4656" y="6001"/>
                    <a:pt x="6001" y="4656"/>
                    <a:pt x="6001" y="3001"/>
                  </a:cubicBezTo>
                  <a:cubicBezTo>
                    <a:pt x="6001" y="1346"/>
                    <a:pt x="4656" y="0"/>
                    <a:pt x="300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2760266" y="1354158"/>
              <a:ext cx="387367" cy="381433"/>
            </a:xfrm>
            <a:custGeom>
              <a:avLst/>
              <a:gdLst/>
              <a:ahLst/>
              <a:cxnLst/>
              <a:rect l="l" t="t" r="r" b="b"/>
              <a:pathLst>
                <a:path w="11621" h="11443" extrusionOk="0">
                  <a:moveTo>
                    <a:pt x="7085" y="596"/>
                  </a:moveTo>
                  <a:cubicBezTo>
                    <a:pt x="7335" y="656"/>
                    <a:pt x="7573" y="739"/>
                    <a:pt x="7799" y="834"/>
                  </a:cubicBezTo>
                  <a:lnTo>
                    <a:pt x="7799" y="929"/>
                  </a:lnTo>
                  <a:cubicBezTo>
                    <a:pt x="7751" y="1846"/>
                    <a:pt x="7728" y="2418"/>
                    <a:pt x="8049" y="2644"/>
                  </a:cubicBezTo>
                  <a:cubicBezTo>
                    <a:pt x="8144" y="2715"/>
                    <a:pt x="8263" y="2751"/>
                    <a:pt x="8406" y="2751"/>
                  </a:cubicBezTo>
                  <a:cubicBezTo>
                    <a:pt x="8752" y="2751"/>
                    <a:pt x="9252" y="2549"/>
                    <a:pt x="9776" y="2346"/>
                  </a:cubicBezTo>
                  <a:lnTo>
                    <a:pt x="9847" y="2322"/>
                  </a:lnTo>
                  <a:cubicBezTo>
                    <a:pt x="10014" y="2513"/>
                    <a:pt x="10157" y="2715"/>
                    <a:pt x="10287" y="2930"/>
                  </a:cubicBezTo>
                  <a:lnTo>
                    <a:pt x="10252" y="2977"/>
                  </a:lnTo>
                  <a:cubicBezTo>
                    <a:pt x="9668" y="3692"/>
                    <a:pt x="9311" y="4156"/>
                    <a:pt x="9430" y="4549"/>
                  </a:cubicBezTo>
                  <a:cubicBezTo>
                    <a:pt x="9549" y="4918"/>
                    <a:pt x="10097" y="5073"/>
                    <a:pt x="10978" y="5299"/>
                  </a:cubicBezTo>
                  <a:lnTo>
                    <a:pt x="11073" y="5335"/>
                  </a:lnTo>
                  <a:cubicBezTo>
                    <a:pt x="11085" y="5454"/>
                    <a:pt x="11097" y="5585"/>
                    <a:pt x="11097" y="5716"/>
                  </a:cubicBezTo>
                  <a:cubicBezTo>
                    <a:pt x="11097" y="5859"/>
                    <a:pt x="11085" y="5978"/>
                    <a:pt x="11073" y="6109"/>
                  </a:cubicBezTo>
                  <a:lnTo>
                    <a:pt x="10954" y="6144"/>
                  </a:lnTo>
                  <a:cubicBezTo>
                    <a:pt x="10085" y="6371"/>
                    <a:pt x="9549" y="6525"/>
                    <a:pt x="9430" y="6894"/>
                  </a:cubicBezTo>
                  <a:cubicBezTo>
                    <a:pt x="9311" y="7275"/>
                    <a:pt x="9656" y="7740"/>
                    <a:pt x="10252" y="8466"/>
                  </a:cubicBezTo>
                  <a:lnTo>
                    <a:pt x="10287" y="8514"/>
                  </a:lnTo>
                  <a:cubicBezTo>
                    <a:pt x="10157" y="8716"/>
                    <a:pt x="10014" y="8930"/>
                    <a:pt x="9847" y="9121"/>
                  </a:cubicBezTo>
                  <a:lnTo>
                    <a:pt x="9787" y="9097"/>
                  </a:lnTo>
                  <a:cubicBezTo>
                    <a:pt x="9264" y="8895"/>
                    <a:pt x="8763" y="8692"/>
                    <a:pt x="8406" y="8692"/>
                  </a:cubicBezTo>
                  <a:cubicBezTo>
                    <a:pt x="8263" y="8692"/>
                    <a:pt x="8144" y="8728"/>
                    <a:pt x="8049" y="8799"/>
                  </a:cubicBezTo>
                  <a:cubicBezTo>
                    <a:pt x="7728" y="9026"/>
                    <a:pt x="7751" y="9597"/>
                    <a:pt x="7799" y="10514"/>
                  </a:cubicBezTo>
                  <a:lnTo>
                    <a:pt x="7799" y="10609"/>
                  </a:lnTo>
                  <a:cubicBezTo>
                    <a:pt x="7573" y="10704"/>
                    <a:pt x="7335" y="10776"/>
                    <a:pt x="7085" y="10835"/>
                  </a:cubicBezTo>
                  <a:lnTo>
                    <a:pt x="7073" y="10812"/>
                  </a:lnTo>
                  <a:cubicBezTo>
                    <a:pt x="6561" y="10014"/>
                    <a:pt x="6227" y="9526"/>
                    <a:pt x="5811" y="9526"/>
                  </a:cubicBezTo>
                  <a:cubicBezTo>
                    <a:pt x="5406" y="9526"/>
                    <a:pt x="5073" y="10002"/>
                    <a:pt x="4572" y="10788"/>
                  </a:cubicBezTo>
                  <a:lnTo>
                    <a:pt x="4537" y="10835"/>
                  </a:lnTo>
                  <a:cubicBezTo>
                    <a:pt x="4299" y="10776"/>
                    <a:pt x="4061" y="10704"/>
                    <a:pt x="3822" y="10609"/>
                  </a:cubicBezTo>
                  <a:lnTo>
                    <a:pt x="3822" y="10526"/>
                  </a:lnTo>
                  <a:cubicBezTo>
                    <a:pt x="3882" y="9597"/>
                    <a:pt x="3894" y="9026"/>
                    <a:pt x="3584" y="8799"/>
                  </a:cubicBezTo>
                  <a:cubicBezTo>
                    <a:pt x="3489" y="8728"/>
                    <a:pt x="3370" y="8692"/>
                    <a:pt x="3215" y="8692"/>
                  </a:cubicBezTo>
                  <a:cubicBezTo>
                    <a:pt x="2870" y="8692"/>
                    <a:pt x="2370" y="8883"/>
                    <a:pt x="1846" y="9097"/>
                  </a:cubicBezTo>
                  <a:lnTo>
                    <a:pt x="1786" y="9121"/>
                  </a:lnTo>
                  <a:cubicBezTo>
                    <a:pt x="1620" y="8930"/>
                    <a:pt x="1477" y="8728"/>
                    <a:pt x="1334" y="8514"/>
                  </a:cubicBezTo>
                  <a:lnTo>
                    <a:pt x="1382" y="8454"/>
                  </a:lnTo>
                  <a:cubicBezTo>
                    <a:pt x="1965" y="7740"/>
                    <a:pt x="2322" y="7275"/>
                    <a:pt x="2191" y="6894"/>
                  </a:cubicBezTo>
                  <a:cubicBezTo>
                    <a:pt x="2072" y="6525"/>
                    <a:pt x="1536" y="6371"/>
                    <a:pt x="667" y="6144"/>
                  </a:cubicBezTo>
                  <a:lnTo>
                    <a:pt x="548" y="6109"/>
                  </a:lnTo>
                  <a:cubicBezTo>
                    <a:pt x="536" y="5978"/>
                    <a:pt x="536" y="5847"/>
                    <a:pt x="536" y="5716"/>
                  </a:cubicBezTo>
                  <a:cubicBezTo>
                    <a:pt x="536" y="5585"/>
                    <a:pt x="536" y="5454"/>
                    <a:pt x="548" y="5335"/>
                  </a:cubicBezTo>
                  <a:lnTo>
                    <a:pt x="655" y="5299"/>
                  </a:lnTo>
                  <a:cubicBezTo>
                    <a:pt x="1536" y="5073"/>
                    <a:pt x="2072" y="4918"/>
                    <a:pt x="2203" y="4537"/>
                  </a:cubicBezTo>
                  <a:cubicBezTo>
                    <a:pt x="2322" y="4156"/>
                    <a:pt x="1965" y="3704"/>
                    <a:pt x="1370" y="2977"/>
                  </a:cubicBezTo>
                  <a:lnTo>
                    <a:pt x="1334" y="2930"/>
                  </a:lnTo>
                  <a:cubicBezTo>
                    <a:pt x="1465" y="2715"/>
                    <a:pt x="1620" y="2513"/>
                    <a:pt x="1786" y="2322"/>
                  </a:cubicBezTo>
                  <a:lnTo>
                    <a:pt x="1858" y="2346"/>
                  </a:lnTo>
                  <a:cubicBezTo>
                    <a:pt x="2382" y="2549"/>
                    <a:pt x="2870" y="2751"/>
                    <a:pt x="3215" y="2751"/>
                  </a:cubicBezTo>
                  <a:cubicBezTo>
                    <a:pt x="3370" y="2751"/>
                    <a:pt x="3489" y="2715"/>
                    <a:pt x="3584" y="2644"/>
                  </a:cubicBezTo>
                  <a:cubicBezTo>
                    <a:pt x="3894" y="2418"/>
                    <a:pt x="3882" y="1834"/>
                    <a:pt x="3822" y="918"/>
                  </a:cubicBezTo>
                  <a:lnTo>
                    <a:pt x="3822" y="834"/>
                  </a:lnTo>
                  <a:cubicBezTo>
                    <a:pt x="4049" y="739"/>
                    <a:pt x="4287" y="656"/>
                    <a:pt x="4537" y="596"/>
                  </a:cubicBezTo>
                  <a:lnTo>
                    <a:pt x="4561" y="632"/>
                  </a:lnTo>
                  <a:cubicBezTo>
                    <a:pt x="5073" y="1429"/>
                    <a:pt x="5406" y="1918"/>
                    <a:pt x="5811" y="1918"/>
                  </a:cubicBezTo>
                  <a:cubicBezTo>
                    <a:pt x="6227" y="1918"/>
                    <a:pt x="6561" y="1418"/>
                    <a:pt x="7085" y="608"/>
                  </a:cubicBezTo>
                  <a:lnTo>
                    <a:pt x="7085" y="596"/>
                  </a:lnTo>
                  <a:close/>
                  <a:moveTo>
                    <a:pt x="4787" y="1"/>
                  </a:moveTo>
                  <a:lnTo>
                    <a:pt x="4608" y="36"/>
                  </a:lnTo>
                  <a:cubicBezTo>
                    <a:pt x="4203" y="120"/>
                    <a:pt x="3810" y="251"/>
                    <a:pt x="3441" y="417"/>
                  </a:cubicBezTo>
                  <a:lnTo>
                    <a:pt x="3275" y="501"/>
                  </a:lnTo>
                  <a:lnTo>
                    <a:pt x="3299" y="941"/>
                  </a:lnTo>
                  <a:cubicBezTo>
                    <a:pt x="3322" y="1370"/>
                    <a:pt x="3358" y="2084"/>
                    <a:pt x="3275" y="2203"/>
                  </a:cubicBezTo>
                  <a:cubicBezTo>
                    <a:pt x="3275" y="2203"/>
                    <a:pt x="3263" y="2215"/>
                    <a:pt x="3215" y="2215"/>
                  </a:cubicBezTo>
                  <a:cubicBezTo>
                    <a:pt x="2977" y="2215"/>
                    <a:pt x="2477" y="2025"/>
                    <a:pt x="2048" y="1846"/>
                  </a:cubicBezTo>
                  <a:lnTo>
                    <a:pt x="1632" y="1691"/>
                  </a:lnTo>
                  <a:lnTo>
                    <a:pt x="1501" y="1822"/>
                  </a:lnTo>
                  <a:cubicBezTo>
                    <a:pt x="1227" y="2144"/>
                    <a:pt x="977" y="2477"/>
                    <a:pt x="786" y="2823"/>
                  </a:cubicBezTo>
                  <a:lnTo>
                    <a:pt x="691" y="2977"/>
                  </a:lnTo>
                  <a:lnTo>
                    <a:pt x="965" y="3311"/>
                  </a:lnTo>
                  <a:cubicBezTo>
                    <a:pt x="1239" y="3656"/>
                    <a:pt x="1703" y="4216"/>
                    <a:pt x="1691" y="4370"/>
                  </a:cubicBezTo>
                  <a:cubicBezTo>
                    <a:pt x="1608" y="4501"/>
                    <a:pt x="929" y="4680"/>
                    <a:pt x="524" y="4787"/>
                  </a:cubicBezTo>
                  <a:lnTo>
                    <a:pt x="60" y="4906"/>
                  </a:lnTo>
                  <a:lnTo>
                    <a:pt x="36" y="5097"/>
                  </a:lnTo>
                  <a:cubicBezTo>
                    <a:pt x="12" y="5299"/>
                    <a:pt x="0" y="5513"/>
                    <a:pt x="0" y="5716"/>
                  </a:cubicBezTo>
                  <a:cubicBezTo>
                    <a:pt x="0" y="5930"/>
                    <a:pt x="12" y="6144"/>
                    <a:pt x="36" y="6347"/>
                  </a:cubicBezTo>
                  <a:lnTo>
                    <a:pt x="60" y="6525"/>
                  </a:lnTo>
                  <a:lnTo>
                    <a:pt x="536" y="6656"/>
                  </a:lnTo>
                  <a:cubicBezTo>
                    <a:pt x="929" y="6763"/>
                    <a:pt x="1608" y="6942"/>
                    <a:pt x="1691" y="7049"/>
                  </a:cubicBezTo>
                  <a:cubicBezTo>
                    <a:pt x="1703" y="7216"/>
                    <a:pt x="1239" y="7787"/>
                    <a:pt x="965" y="8121"/>
                  </a:cubicBezTo>
                  <a:lnTo>
                    <a:pt x="691" y="8466"/>
                  </a:lnTo>
                  <a:lnTo>
                    <a:pt x="786" y="8621"/>
                  </a:lnTo>
                  <a:cubicBezTo>
                    <a:pt x="989" y="8978"/>
                    <a:pt x="1239" y="9311"/>
                    <a:pt x="1513" y="9621"/>
                  </a:cubicBezTo>
                  <a:lnTo>
                    <a:pt x="1632" y="9752"/>
                  </a:lnTo>
                  <a:lnTo>
                    <a:pt x="2036" y="9585"/>
                  </a:lnTo>
                  <a:cubicBezTo>
                    <a:pt x="2477" y="9419"/>
                    <a:pt x="2977" y="9228"/>
                    <a:pt x="3215" y="9228"/>
                  </a:cubicBezTo>
                  <a:lnTo>
                    <a:pt x="3263" y="9228"/>
                  </a:lnTo>
                  <a:cubicBezTo>
                    <a:pt x="3358" y="9383"/>
                    <a:pt x="3322" y="10073"/>
                    <a:pt x="3299" y="10490"/>
                  </a:cubicBezTo>
                  <a:lnTo>
                    <a:pt x="3275" y="10943"/>
                  </a:lnTo>
                  <a:lnTo>
                    <a:pt x="3441" y="11026"/>
                  </a:lnTo>
                  <a:cubicBezTo>
                    <a:pt x="3822" y="11193"/>
                    <a:pt x="4215" y="11324"/>
                    <a:pt x="4608" y="11407"/>
                  </a:cubicBezTo>
                  <a:lnTo>
                    <a:pt x="4787" y="11443"/>
                  </a:lnTo>
                  <a:lnTo>
                    <a:pt x="5025" y="11074"/>
                  </a:lnTo>
                  <a:cubicBezTo>
                    <a:pt x="5251" y="10704"/>
                    <a:pt x="5656" y="10097"/>
                    <a:pt x="5811" y="10050"/>
                  </a:cubicBezTo>
                  <a:cubicBezTo>
                    <a:pt x="5977" y="10097"/>
                    <a:pt x="6394" y="10752"/>
                    <a:pt x="6620" y="11109"/>
                  </a:cubicBezTo>
                  <a:lnTo>
                    <a:pt x="6847" y="11443"/>
                  </a:lnTo>
                  <a:lnTo>
                    <a:pt x="7025" y="11407"/>
                  </a:lnTo>
                  <a:cubicBezTo>
                    <a:pt x="7418" y="11324"/>
                    <a:pt x="7811" y="11193"/>
                    <a:pt x="8192" y="11026"/>
                  </a:cubicBezTo>
                  <a:lnTo>
                    <a:pt x="8359" y="10954"/>
                  </a:lnTo>
                  <a:lnTo>
                    <a:pt x="8335" y="10490"/>
                  </a:lnTo>
                  <a:cubicBezTo>
                    <a:pt x="8311" y="10062"/>
                    <a:pt x="8263" y="9359"/>
                    <a:pt x="8359" y="9228"/>
                  </a:cubicBezTo>
                  <a:lnTo>
                    <a:pt x="8406" y="9228"/>
                  </a:lnTo>
                  <a:cubicBezTo>
                    <a:pt x="8656" y="9228"/>
                    <a:pt x="9156" y="9419"/>
                    <a:pt x="9597" y="9597"/>
                  </a:cubicBezTo>
                  <a:lnTo>
                    <a:pt x="10002" y="9752"/>
                  </a:lnTo>
                  <a:lnTo>
                    <a:pt x="10121" y="9621"/>
                  </a:lnTo>
                  <a:cubicBezTo>
                    <a:pt x="10407" y="9300"/>
                    <a:pt x="10645" y="8966"/>
                    <a:pt x="10847" y="8621"/>
                  </a:cubicBezTo>
                  <a:lnTo>
                    <a:pt x="10942" y="8466"/>
                  </a:lnTo>
                  <a:lnTo>
                    <a:pt x="10668" y="8121"/>
                  </a:lnTo>
                  <a:cubicBezTo>
                    <a:pt x="10383" y="7787"/>
                    <a:pt x="9930" y="7216"/>
                    <a:pt x="9930" y="7073"/>
                  </a:cubicBezTo>
                  <a:cubicBezTo>
                    <a:pt x="10026" y="6942"/>
                    <a:pt x="10692" y="6763"/>
                    <a:pt x="11097" y="6656"/>
                  </a:cubicBezTo>
                  <a:lnTo>
                    <a:pt x="11573" y="6525"/>
                  </a:lnTo>
                  <a:lnTo>
                    <a:pt x="11597" y="6347"/>
                  </a:lnTo>
                  <a:cubicBezTo>
                    <a:pt x="11609" y="6144"/>
                    <a:pt x="11621" y="5942"/>
                    <a:pt x="11621" y="5716"/>
                  </a:cubicBezTo>
                  <a:cubicBezTo>
                    <a:pt x="11621" y="5501"/>
                    <a:pt x="11609" y="5299"/>
                    <a:pt x="11597" y="5097"/>
                  </a:cubicBezTo>
                  <a:lnTo>
                    <a:pt x="11573" y="4906"/>
                  </a:lnTo>
                  <a:lnTo>
                    <a:pt x="11109" y="4787"/>
                  </a:lnTo>
                  <a:cubicBezTo>
                    <a:pt x="10704" y="4680"/>
                    <a:pt x="10026" y="4501"/>
                    <a:pt x="9942" y="4394"/>
                  </a:cubicBezTo>
                  <a:cubicBezTo>
                    <a:pt x="9930" y="4216"/>
                    <a:pt x="10395" y="3644"/>
                    <a:pt x="10668" y="3311"/>
                  </a:cubicBezTo>
                  <a:lnTo>
                    <a:pt x="10942" y="2977"/>
                  </a:lnTo>
                  <a:lnTo>
                    <a:pt x="10847" y="2823"/>
                  </a:lnTo>
                  <a:cubicBezTo>
                    <a:pt x="10645" y="2477"/>
                    <a:pt x="10407" y="2144"/>
                    <a:pt x="10121" y="1822"/>
                  </a:cubicBezTo>
                  <a:lnTo>
                    <a:pt x="10002" y="1691"/>
                  </a:lnTo>
                  <a:lnTo>
                    <a:pt x="9585" y="1846"/>
                  </a:lnTo>
                  <a:cubicBezTo>
                    <a:pt x="9144" y="2025"/>
                    <a:pt x="8656" y="2215"/>
                    <a:pt x="8406" y="2215"/>
                  </a:cubicBezTo>
                  <a:lnTo>
                    <a:pt x="8371" y="2215"/>
                  </a:lnTo>
                  <a:cubicBezTo>
                    <a:pt x="8263" y="2061"/>
                    <a:pt x="8311" y="1370"/>
                    <a:pt x="8335" y="953"/>
                  </a:cubicBezTo>
                  <a:lnTo>
                    <a:pt x="8359" y="489"/>
                  </a:lnTo>
                  <a:lnTo>
                    <a:pt x="8192" y="417"/>
                  </a:lnTo>
                  <a:cubicBezTo>
                    <a:pt x="7811" y="251"/>
                    <a:pt x="7418" y="120"/>
                    <a:pt x="7025" y="36"/>
                  </a:cubicBezTo>
                  <a:lnTo>
                    <a:pt x="6847" y="1"/>
                  </a:lnTo>
                  <a:lnTo>
                    <a:pt x="6632" y="322"/>
                  </a:lnTo>
                  <a:cubicBezTo>
                    <a:pt x="6406" y="679"/>
                    <a:pt x="5977" y="1346"/>
                    <a:pt x="5823" y="1382"/>
                  </a:cubicBezTo>
                  <a:cubicBezTo>
                    <a:pt x="5644" y="1346"/>
                    <a:pt x="5251" y="715"/>
                    <a:pt x="5013" y="346"/>
                  </a:cubicBezTo>
                  <a:lnTo>
                    <a:pt x="4787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</p:grpSp>
      <p:sp>
        <p:nvSpPr>
          <p:cNvPr id="62" name="Google Shape;62;p15"/>
          <p:cNvSpPr txBox="1"/>
          <p:nvPr/>
        </p:nvSpPr>
        <p:spPr>
          <a:xfrm>
            <a:off x="592372" y="1328878"/>
            <a:ext cx="1957960" cy="23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Tyuring testi, 1950</a:t>
            </a:r>
            <a:endParaRPr sz="2200" dirty="0">
              <a:solidFill>
                <a:srgbClr val="434343"/>
              </a:solidFill>
              <a:latin typeface="Bahnschrift SemiBold Condensed" panose="020B0502040204020203" pitchFamily="34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" name="Google Shape;62;p15">
            <a:extLst>
              <a:ext uri="{FF2B5EF4-FFF2-40B4-BE49-F238E27FC236}">
                <a16:creationId xmlns:a16="http://schemas.microsoft.com/office/drawing/2014/main" id="{1D3C0A4A-5655-24B6-4553-97891014FB02}"/>
              </a:ext>
            </a:extLst>
          </p:cNvPr>
          <p:cNvSpPr txBox="1"/>
          <p:nvPr/>
        </p:nvSpPr>
        <p:spPr>
          <a:xfrm>
            <a:off x="592372" y="2281657"/>
            <a:ext cx="1965669" cy="298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AI termini, 1956</a:t>
            </a:r>
            <a:endParaRPr sz="2200" dirty="0">
              <a:solidFill>
                <a:srgbClr val="434343"/>
              </a:solidFill>
              <a:latin typeface="Bahnschrift SemiBold Condensed" panose="020B0502040204020203" pitchFamily="34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5715401" y="1307989"/>
            <a:ext cx="306800" cy="2121011"/>
          </a:xfrm>
          <a:custGeom>
            <a:avLst/>
            <a:gdLst/>
            <a:ahLst/>
            <a:cxnLst/>
            <a:rect l="l" t="t" r="r" b="b"/>
            <a:pathLst>
              <a:path w="9204" h="44792" extrusionOk="0">
                <a:moveTo>
                  <a:pt x="0" y="1"/>
                </a:moveTo>
                <a:lnTo>
                  <a:pt x="0" y="33291"/>
                </a:lnTo>
                <a:cubicBezTo>
                  <a:pt x="0" y="38244"/>
                  <a:pt x="2810" y="42649"/>
                  <a:pt x="7097" y="44792"/>
                </a:cubicBezTo>
                <a:lnTo>
                  <a:pt x="9204" y="44792"/>
                </a:lnTo>
                <a:lnTo>
                  <a:pt x="9204" y="43328"/>
                </a:lnTo>
                <a:cubicBezTo>
                  <a:pt x="5025" y="41804"/>
                  <a:pt x="2179" y="37827"/>
                  <a:pt x="2179" y="33291"/>
                </a:cubicBezTo>
                <a:lnTo>
                  <a:pt x="2179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Bahnschrift Light Condensed" panose="020B0502040204020203" pitchFamily="34" charset="0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614068" y="3258434"/>
            <a:ext cx="1653400" cy="785433"/>
          </a:xfrm>
          <a:custGeom>
            <a:avLst/>
            <a:gdLst/>
            <a:ahLst/>
            <a:cxnLst/>
            <a:rect l="l" t="t" r="r" b="b"/>
            <a:pathLst>
              <a:path w="49602" h="23563" extrusionOk="0">
                <a:moveTo>
                  <a:pt x="1" y="0"/>
                </a:moveTo>
                <a:cubicBezTo>
                  <a:pt x="4620" y="1917"/>
                  <a:pt x="7871" y="6477"/>
                  <a:pt x="7871" y="11788"/>
                </a:cubicBezTo>
                <a:cubicBezTo>
                  <a:pt x="7871" y="17098"/>
                  <a:pt x="4620" y="21646"/>
                  <a:pt x="1" y="23563"/>
                </a:cubicBezTo>
                <a:lnTo>
                  <a:pt x="37827" y="23563"/>
                </a:lnTo>
                <a:cubicBezTo>
                  <a:pt x="44328" y="23563"/>
                  <a:pt x="49602" y="18288"/>
                  <a:pt x="49602" y="11788"/>
                </a:cubicBezTo>
                <a:cubicBezTo>
                  <a:pt x="49602" y="5275"/>
                  <a:pt x="44328" y="0"/>
                  <a:pt x="37827" y="0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267" dirty="0">
                <a:solidFill>
                  <a:srgbClr val="FFFFFF"/>
                </a:solidFill>
                <a:latin typeface="Bahnschrift Light Condensed" panose="020B0502040204020203" pitchFamily="34" charset="0"/>
                <a:ea typeface="Fira Sans Extra Condensed"/>
                <a:cs typeface="Fira Sans Extra Condensed"/>
                <a:sym typeface="Fira Sans Extra Condensed"/>
              </a:rPr>
              <a:t>1980</a:t>
            </a:r>
            <a:endParaRPr sz="2267" dirty="0">
              <a:solidFill>
                <a:srgbClr val="FFFFFF"/>
              </a:solidFill>
              <a:latin typeface="Bahnschrift Light Condensed" panose="020B0502040204020203" pitchFamily="34" charset="0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6D9475C5-B261-091C-6E5B-BE1FD8618E47}"/>
              </a:ext>
            </a:extLst>
          </p:cNvPr>
          <p:cNvGrpSpPr/>
          <p:nvPr/>
        </p:nvGrpSpPr>
        <p:grpSpPr>
          <a:xfrm>
            <a:off x="5947568" y="1347341"/>
            <a:ext cx="406833" cy="382200"/>
            <a:chOff x="5947568" y="1841200"/>
            <a:chExt cx="406833" cy="382200"/>
          </a:xfrm>
        </p:grpSpPr>
        <p:sp>
          <p:nvSpPr>
            <p:cNvPr id="66" name="Google Shape;66;p15"/>
            <p:cNvSpPr/>
            <p:nvPr/>
          </p:nvSpPr>
          <p:spPr>
            <a:xfrm>
              <a:off x="5947568" y="1995167"/>
              <a:ext cx="119100" cy="228233"/>
            </a:xfrm>
            <a:custGeom>
              <a:avLst/>
              <a:gdLst/>
              <a:ahLst/>
              <a:cxnLst/>
              <a:rect l="l" t="t" r="r" b="b"/>
              <a:pathLst>
                <a:path w="3573" h="6847" extrusionOk="0">
                  <a:moveTo>
                    <a:pt x="2977" y="739"/>
                  </a:moveTo>
                  <a:lnTo>
                    <a:pt x="2977" y="6252"/>
                  </a:lnTo>
                  <a:lnTo>
                    <a:pt x="596" y="6252"/>
                  </a:lnTo>
                  <a:lnTo>
                    <a:pt x="596" y="739"/>
                  </a:lnTo>
                  <a:close/>
                  <a:moveTo>
                    <a:pt x="1" y="1"/>
                  </a:moveTo>
                  <a:lnTo>
                    <a:pt x="1" y="6847"/>
                  </a:lnTo>
                  <a:lnTo>
                    <a:pt x="3572" y="6847"/>
                  </a:lnTo>
                  <a:lnTo>
                    <a:pt x="3572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6086468" y="1915800"/>
              <a:ext cx="123867" cy="307600"/>
            </a:xfrm>
            <a:custGeom>
              <a:avLst/>
              <a:gdLst/>
              <a:ahLst/>
              <a:cxnLst/>
              <a:rect l="l" t="t" r="r" b="b"/>
              <a:pathLst>
                <a:path w="3716" h="9228" extrusionOk="0">
                  <a:moveTo>
                    <a:pt x="3120" y="596"/>
                  </a:moveTo>
                  <a:lnTo>
                    <a:pt x="3120" y="8633"/>
                  </a:lnTo>
                  <a:lnTo>
                    <a:pt x="596" y="8633"/>
                  </a:lnTo>
                  <a:lnTo>
                    <a:pt x="596" y="596"/>
                  </a:lnTo>
                  <a:close/>
                  <a:moveTo>
                    <a:pt x="1" y="1"/>
                  </a:moveTo>
                  <a:lnTo>
                    <a:pt x="1" y="9228"/>
                  </a:lnTo>
                  <a:lnTo>
                    <a:pt x="3716" y="9228"/>
                  </a:lnTo>
                  <a:lnTo>
                    <a:pt x="371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6230134" y="1841200"/>
              <a:ext cx="124267" cy="382200"/>
            </a:xfrm>
            <a:custGeom>
              <a:avLst/>
              <a:gdLst/>
              <a:ahLst/>
              <a:cxnLst/>
              <a:rect l="l" t="t" r="r" b="b"/>
              <a:pathLst>
                <a:path w="3728" h="11466" extrusionOk="0">
                  <a:moveTo>
                    <a:pt x="3132" y="596"/>
                  </a:moveTo>
                  <a:lnTo>
                    <a:pt x="3132" y="10871"/>
                  </a:lnTo>
                  <a:lnTo>
                    <a:pt x="596" y="10871"/>
                  </a:lnTo>
                  <a:lnTo>
                    <a:pt x="596" y="596"/>
                  </a:lnTo>
                  <a:close/>
                  <a:moveTo>
                    <a:pt x="1" y="0"/>
                  </a:moveTo>
                  <a:lnTo>
                    <a:pt x="1" y="11466"/>
                  </a:lnTo>
                  <a:lnTo>
                    <a:pt x="3727" y="11466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</p:grpSp>
      <p:sp>
        <p:nvSpPr>
          <p:cNvPr id="72" name="Google Shape;72;p15"/>
          <p:cNvSpPr/>
          <p:nvPr/>
        </p:nvSpPr>
        <p:spPr>
          <a:xfrm>
            <a:off x="8876100" y="1307989"/>
            <a:ext cx="307233" cy="2100365"/>
          </a:xfrm>
          <a:custGeom>
            <a:avLst/>
            <a:gdLst/>
            <a:ahLst/>
            <a:cxnLst/>
            <a:rect l="l" t="t" r="r" b="b"/>
            <a:pathLst>
              <a:path w="9217" h="44792" extrusionOk="0">
                <a:moveTo>
                  <a:pt x="1" y="1"/>
                </a:moveTo>
                <a:lnTo>
                  <a:pt x="1" y="33291"/>
                </a:lnTo>
                <a:cubicBezTo>
                  <a:pt x="1" y="38244"/>
                  <a:pt x="2823" y="42649"/>
                  <a:pt x="7097" y="44792"/>
                </a:cubicBezTo>
                <a:lnTo>
                  <a:pt x="9216" y="44792"/>
                </a:lnTo>
                <a:lnTo>
                  <a:pt x="9216" y="43328"/>
                </a:lnTo>
                <a:cubicBezTo>
                  <a:pt x="5025" y="41804"/>
                  <a:pt x="2192" y="37827"/>
                  <a:pt x="2192" y="33291"/>
                </a:cubicBezTo>
                <a:lnTo>
                  <a:pt x="2192" y="1"/>
                </a:ln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Bahnschrift Light Condensed" panose="020B0502040204020203" pitchFamily="34" charset="0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7774767" y="3258434"/>
            <a:ext cx="1653833" cy="785433"/>
          </a:xfrm>
          <a:custGeom>
            <a:avLst/>
            <a:gdLst/>
            <a:ahLst/>
            <a:cxnLst/>
            <a:rect l="l" t="t" r="r" b="b"/>
            <a:pathLst>
              <a:path w="49615" h="23563" extrusionOk="0">
                <a:moveTo>
                  <a:pt x="1" y="0"/>
                </a:moveTo>
                <a:cubicBezTo>
                  <a:pt x="4621" y="1917"/>
                  <a:pt x="7871" y="6477"/>
                  <a:pt x="7871" y="11788"/>
                </a:cubicBezTo>
                <a:cubicBezTo>
                  <a:pt x="7871" y="17098"/>
                  <a:pt x="4621" y="21646"/>
                  <a:pt x="1" y="23563"/>
                </a:cubicBezTo>
                <a:lnTo>
                  <a:pt x="37827" y="23563"/>
                </a:lnTo>
                <a:cubicBezTo>
                  <a:pt x="44340" y="23563"/>
                  <a:pt x="49614" y="18288"/>
                  <a:pt x="49614" y="11788"/>
                </a:cubicBezTo>
                <a:cubicBezTo>
                  <a:pt x="49614" y="5275"/>
                  <a:pt x="44340" y="0"/>
                  <a:pt x="37827" y="0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267" dirty="0">
                <a:solidFill>
                  <a:srgbClr val="FFFFFF"/>
                </a:solidFill>
                <a:latin typeface="Bahnschrift Light Condensed" panose="020B0502040204020203" pitchFamily="34" charset="0"/>
                <a:ea typeface="Fira Sans Extra Condensed"/>
                <a:cs typeface="Fira Sans Extra Condensed"/>
                <a:sym typeface="Fira Sans Extra Condensed"/>
              </a:rPr>
              <a:t>2010</a:t>
            </a:r>
            <a:endParaRPr sz="2267" dirty="0">
              <a:solidFill>
                <a:srgbClr val="FFFFFF"/>
              </a:solidFill>
              <a:latin typeface="Bahnschrift Light Condensed" panose="020B0502040204020203" pitchFamily="34" charset="0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F08C8604-1C9A-15C7-7869-7E38E0BA6C5A}"/>
              </a:ext>
            </a:extLst>
          </p:cNvPr>
          <p:cNvGrpSpPr/>
          <p:nvPr/>
        </p:nvGrpSpPr>
        <p:grpSpPr>
          <a:xfrm>
            <a:off x="9169800" y="1349108"/>
            <a:ext cx="346900" cy="333600"/>
            <a:chOff x="9169800" y="1842967"/>
            <a:chExt cx="346900" cy="333600"/>
          </a:xfrm>
        </p:grpSpPr>
        <p:sp>
          <p:nvSpPr>
            <p:cNvPr id="74" name="Google Shape;74;p15"/>
            <p:cNvSpPr/>
            <p:nvPr/>
          </p:nvSpPr>
          <p:spPr>
            <a:xfrm>
              <a:off x="9221000" y="1883867"/>
              <a:ext cx="194500" cy="110567"/>
            </a:xfrm>
            <a:custGeom>
              <a:avLst/>
              <a:gdLst/>
              <a:ahLst/>
              <a:cxnLst/>
              <a:rect l="l" t="t" r="r" b="b"/>
              <a:pathLst>
                <a:path w="5835" h="3317" extrusionOk="0">
                  <a:moveTo>
                    <a:pt x="2971" y="0"/>
                  </a:moveTo>
                  <a:cubicBezTo>
                    <a:pt x="2233" y="0"/>
                    <a:pt x="1495" y="280"/>
                    <a:pt x="929" y="840"/>
                  </a:cubicBezTo>
                  <a:cubicBezTo>
                    <a:pt x="262" y="1518"/>
                    <a:pt x="0" y="2447"/>
                    <a:pt x="131" y="3316"/>
                  </a:cubicBezTo>
                  <a:lnTo>
                    <a:pt x="739" y="3256"/>
                  </a:lnTo>
                  <a:cubicBezTo>
                    <a:pt x="619" y="2554"/>
                    <a:pt x="822" y="1816"/>
                    <a:pt x="1370" y="1280"/>
                  </a:cubicBezTo>
                  <a:cubicBezTo>
                    <a:pt x="1810" y="834"/>
                    <a:pt x="2391" y="610"/>
                    <a:pt x="2971" y="610"/>
                  </a:cubicBezTo>
                  <a:cubicBezTo>
                    <a:pt x="3551" y="610"/>
                    <a:pt x="4132" y="834"/>
                    <a:pt x="4572" y="1280"/>
                  </a:cubicBezTo>
                  <a:cubicBezTo>
                    <a:pt x="5001" y="1709"/>
                    <a:pt x="5215" y="2256"/>
                    <a:pt x="5239" y="2828"/>
                  </a:cubicBezTo>
                  <a:lnTo>
                    <a:pt x="5834" y="2768"/>
                  </a:lnTo>
                  <a:cubicBezTo>
                    <a:pt x="5811" y="2066"/>
                    <a:pt x="5537" y="1375"/>
                    <a:pt x="5013" y="840"/>
                  </a:cubicBezTo>
                  <a:cubicBezTo>
                    <a:pt x="4447" y="280"/>
                    <a:pt x="3709" y="0"/>
                    <a:pt x="297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9169800" y="1842967"/>
              <a:ext cx="346900" cy="333600"/>
            </a:xfrm>
            <a:custGeom>
              <a:avLst/>
              <a:gdLst/>
              <a:ahLst/>
              <a:cxnLst/>
              <a:rect l="l" t="t" r="r" b="b"/>
              <a:pathLst>
                <a:path w="10407" h="10008" extrusionOk="0">
                  <a:moveTo>
                    <a:pt x="4507" y="611"/>
                  </a:moveTo>
                  <a:cubicBezTo>
                    <a:pt x="5403" y="611"/>
                    <a:pt x="6299" y="953"/>
                    <a:pt x="6977" y="1638"/>
                  </a:cubicBezTo>
                  <a:cubicBezTo>
                    <a:pt x="8335" y="2995"/>
                    <a:pt x="8335" y="5222"/>
                    <a:pt x="6977" y="6579"/>
                  </a:cubicBezTo>
                  <a:cubicBezTo>
                    <a:pt x="6299" y="7258"/>
                    <a:pt x="5403" y="7597"/>
                    <a:pt x="4507" y="7597"/>
                  </a:cubicBezTo>
                  <a:cubicBezTo>
                    <a:pt x="3611" y="7597"/>
                    <a:pt x="2715" y="7258"/>
                    <a:pt x="2036" y="6579"/>
                  </a:cubicBezTo>
                  <a:cubicBezTo>
                    <a:pt x="667" y="5222"/>
                    <a:pt x="667" y="2995"/>
                    <a:pt x="2036" y="1638"/>
                  </a:cubicBezTo>
                  <a:cubicBezTo>
                    <a:pt x="2715" y="953"/>
                    <a:pt x="3611" y="611"/>
                    <a:pt x="4507" y="611"/>
                  </a:cubicBezTo>
                  <a:close/>
                  <a:moveTo>
                    <a:pt x="8299" y="7365"/>
                  </a:moveTo>
                  <a:lnTo>
                    <a:pt x="9537" y="8603"/>
                  </a:lnTo>
                  <a:lnTo>
                    <a:pt x="9002" y="9139"/>
                  </a:lnTo>
                  <a:lnTo>
                    <a:pt x="7763" y="7901"/>
                  </a:lnTo>
                  <a:lnTo>
                    <a:pt x="8299" y="7365"/>
                  </a:lnTo>
                  <a:close/>
                  <a:moveTo>
                    <a:pt x="4507" y="1"/>
                  </a:moveTo>
                  <a:cubicBezTo>
                    <a:pt x="3456" y="1"/>
                    <a:pt x="2405" y="400"/>
                    <a:pt x="1608" y="1197"/>
                  </a:cubicBezTo>
                  <a:cubicBezTo>
                    <a:pt x="0" y="2805"/>
                    <a:pt x="0" y="5412"/>
                    <a:pt x="1608" y="7008"/>
                  </a:cubicBezTo>
                  <a:cubicBezTo>
                    <a:pt x="2404" y="7811"/>
                    <a:pt x="3452" y="8210"/>
                    <a:pt x="4502" y="8210"/>
                  </a:cubicBezTo>
                  <a:cubicBezTo>
                    <a:pt x="5445" y="8210"/>
                    <a:pt x="6390" y="7888"/>
                    <a:pt x="7156" y="7246"/>
                  </a:cubicBezTo>
                  <a:lnTo>
                    <a:pt x="7358" y="7448"/>
                  </a:lnTo>
                  <a:lnTo>
                    <a:pt x="6894" y="7901"/>
                  </a:lnTo>
                  <a:lnTo>
                    <a:pt x="9002" y="10008"/>
                  </a:lnTo>
                  <a:lnTo>
                    <a:pt x="10406" y="8603"/>
                  </a:lnTo>
                  <a:lnTo>
                    <a:pt x="8299" y="6496"/>
                  </a:lnTo>
                  <a:lnTo>
                    <a:pt x="7835" y="6960"/>
                  </a:lnTo>
                  <a:lnTo>
                    <a:pt x="7644" y="6758"/>
                  </a:lnTo>
                  <a:cubicBezTo>
                    <a:pt x="9002" y="5150"/>
                    <a:pt x="8930" y="2721"/>
                    <a:pt x="7406" y="1197"/>
                  </a:cubicBezTo>
                  <a:cubicBezTo>
                    <a:pt x="6608" y="400"/>
                    <a:pt x="5558" y="1"/>
                    <a:pt x="450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</p:grpSp>
      <p:sp>
        <p:nvSpPr>
          <p:cNvPr id="79" name="Google Shape;79;p15"/>
          <p:cNvSpPr/>
          <p:nvPr/>
        </p:nvSpPr>
        <p:spPr>
          <a:xfrm>
            <a:off x="4047334" y="3951798"/>
            <a:ext cx="306800" cy="2400897"/>
          </a:xfrm>
          <a:custGeom>
            <a:avLst/>
            <a:gdLst/>
            <a:ahLst/>
            <a:cxnLst/>
            <a:rect l="l" t="t" r="r" b="b"/>
            <a:pathLst>
              <a:path w="9204" h="44804" extrusionOk="0">
                <a:moveTo>
                  <a:pt x="7097" y="0"/>
                </a:moveTo>
                <a:cubicBezTo>
                  <a:pt x="2810" y="2143"/>
                  <a:pt x="0" y="6549"/>
                  <a:pt x="0" y="11514"/>
                </a:cubicBezTo>
                <a:lnTo>
                  <a:pt x="0" y="44803"/>
                </a:lnTo>
                <a:lnTo>
                  <a:pt x="2179" y="44803"/>
                </a:lnTo>
                <a:lnTo>
                  <a:pt x="2179" y="11514"/>
                </a:lnTo>
                <a:cubicBezTo>
                  <a:pt x="2179" y="6965"/>
                  <a:pt x="5025" y="2989"/>
                  <a:pt x="9204" y="1477"/>
                </a:cubicBezTo>
                <a:lnTo>
                  <a:pt x="9204" y="0"/>
                </a:ln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Bahnschrift Light Condensed" panose="020B0502040204020203" pitchFamily="34" charset="0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3033701" y="3258433"/>
            <a:ext cx="1653433" cy="785433"/>
          </a:xfrm>
          <a:custGeom>
            <a:avLst/>
            <a:gdLst/>
            <a:ahLst/>
            <a:cxnLst/>
            <a:rect l="l" t="t" r="r" b="b"/>
            <a:pathLst>
              <a:path w="49603" h="23563" extrusionOk="0">
                <a:moveTo>
                  <a:pt x="1" y="0"/>
                </a:moveTo>
                <a:cubicBezTo>
                  <a:pt x="4621" y="1917"/>
                  <a:pt x="7871" y="6477"/>
                  <a:pt x="7871" y="11788"/>
                </a:cubicBezTo>
                <a:cubicBezTo>
                  <a:pt x="7871" y="17098"/>
                  <a:pt x="4621" y="21646"/>
                  <a:pt x="1" y="23563"/>
                </a:cubicBezTo>
                <a:lnTo>
                  <a:pt x="37827" y="23563"/>
                </a:lnTo>
                <a:cubicBezTo>
                  <a:pt x="44328" y="23563"/>
                  <a:pt x="49602" y="18288"/>
                  <a:pt x="49602" y="11788"/>
                </a:cubicBezTo>
                <a:cubicBezTo>
                  <a:pt x="49602" y="5275"/>
                  <a:pt x="44328" y="0"/>
                  <a:pt x="37827" y="0"/>
                </a:cubicBez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267" dirty="0">
                <a:solidFill>
                  <a:srgbClr val="FFFFFF"/>
                </a:solidFill>
                <a:latin typeface="Bahnschrift Light Condensed" panose="020B0502040204020203" pitchFamily="34" charset="0"/>
                <a:ea typeface="Fira Sans Extra Condensed"/>
                <a:cs typeface="Fira Sans Extra Condensed"/>
                <a:sym typeface="Fira Sans Extra Condensed"/>
              </a:rPr>
              <a:t>1960-70</a:t>
            </a:r>
            <a:endParaRPr sz="2267" dirty="0">
              <a:solidFill>
                <a:srgbClr val="FFFFFF"/>
              </a:solidFill>
              <a:latin typeface="Bahnschrift Light Condensed" panose="020B0502040204020203" pitchFamily="34" charset="0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AD51528-A019-B923-99AE-1A0242FD0B23}"/>
              </a:ext>
            </a:extLst>
          </p:cNvPr>
          <p:cNvGrpSpPr/>
          <p:nvPr/>
        </p:nvGrpSpPr>
        <p:grpSpPr>
          <a:xfrm>
            <a:off x="4292600" y="5902481"/>
            <a:ext cx="385800" cy="386200"/>
            <a:chOff x="4292600" y="5098333"/>
            <a:chExt cx="385800" cy="386200"/>
          </a:xfrm>
        </p:grpSpPr>
        <p:sp>
          <p:nvSpPr>
            <p:cNvPr id="81" name="Google Shape;81;p15"/>
            <p:cNvSpPr/>
            <p:nvPr/>
          </p:nvSpPr>
          <p:spPr>
            <a:xfrm>
              <a:off x="4292600" y="5098333"/>
              <a:ext cx="385800" cy="386200"/>
            </a:xfrm>
            <a:custGeom>
              <a:avLst/>
              <a:gdLst/>
              <a:ahLst/>
              <a:cxnLst/>
              <a:rect l="l" t="t" r="r" b="b"/>
              <a:pathLst>
                <a:path w="11574" h="11586" extrusionOk="0">
                  <a:moveTo>
                    <a:pt x="5787" y="620"/>
                  </a:moveTo>
                  <a:cubicBezTo>
                    <a:pt x="8633" y="620"/>
                    <a:pt x="10954" y="2941"/>
                    <a:pt x="10954" y="5799"/>
                  </a:cubicBezTo>
                  <a:cubicBezTo>
                    <a:pt x="10954" y="8645"/>
                    <a:pt x="8633" y="10966"/>
                    <a:pt x="5787" y="10966"/>
                  </a:cubicBezTo>
                  <a:cubicBezTo>
                    <a:pt x="2929" y="10966"/>
                    <a:pt x="608" y="8645"/>
                    <a:pt x="608" y="5799"/>
                  </a:cubicBezTo>
                  <a:cubicBezTo>
                    <a:pt x="608" y="2941"/>
                    <a:pt x="2929" y="620"/>
                    <a:pt x="5787" y="620"/>
                  </a:cubicBezTo>
                  <a:close/>
                  <a:moveTo>
                    <a:pt x="5787" y="1"/>
                  </a:moveTo>
                  <a:cubicBezTo>
                    <a:pt x="2596" y="1"/>
                    <a:pt x="1" y="2596"/>
                    <a:pt x="1" y="5799"/>
                  </a:cubicBezTo>
                  <a:cubicBezTo>
                    <a:pt x="1" y="8990"/>
                    <a:pt x="2596" y="11585"/>
                    <a:pt x="5787" y="11585"/>
                  </a:cubicBezTo>
                  <a:cubicBezTo>
                    <a:pt x="8978" y="11585"/>
                    <a:pt x="11573" y="8990"/>
                    <a:pt x="11573" y="5799"/>
                  </a:cubicBezTo>
                  <a:cubicBezTo>
                    <a:pt x="11573" y="2596"/>
                    <a:pt x="8978" y="1"/>
                    <a:pt x="578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4397367" y="5160233"/>
              <a:ext cx="174267" cy="277867"/>
            </a:xfrm>
            <a:custGeom>
              <a:avLst/>
              <a:gdLst/>
              <a:ahLst/>
              <a:cxnLst/>
              <a:rect l="l" t="t" r="r" b="b"/>
              <a:pathLst>
                <a:path w="5228" h="8336" extrusionOk="0">
                  <a:moveTo>
                    <a:pt x="2299" y="1227"/>
                  </a:moveTo>
                  <a:lnTo>
                    <a:pt x="2299" y="3668"/>
                  </a:lnTo>
                  <a:cubicBezTo>
                    <a:pt x="2156" y="3632"/>
                    <a:pt x="2096" y="3609"/>
                    <a:pt x="2001" y="3573"/>
                  </a:cubicBezTo>
                  <a:cubicBezTo>
                    <a:pt x="1751" y="3501"/>
                    <a:pt x="1560" y="3418"/>
                    <a:pt x="1406" y="3323"/>
                  </a:cubicBezTo>
                  <a:cubicBezTo>
                    <a:pt x="1263" y="3228"/>
                    <a:pt x="1144" y="3120"/>
                    <a:pt x="1072" y="2989"/>
                  </a:cubicBezTo>
                  <a:cubicBezTo>
                    <a:pt x="1001" y="2847"/>
                    <a:pt x="965" y="2680"/>
                    <a:pt x="965" y="2477"/>
                  </a:cubicBezTo>
                  <a:cubicBezTo>
                    <a:pt x="965" y="2085"/>
                    <a:pt x="1084" y="1775"/>
                    <a:pt x="1358" y="1549"/>
                  </a:cubicBezTo>
                  <a:cubicBezTo>
                    <a:pt x="1584" y="1370"/>
                    <a:pt x="1846" y="1263"/>
                    <a:pt x="2299" y="1227"/>
                  </a:cubicBezTo>
                  <a:close/>
                  <a:moveTo>
                    <a:pt x="2894" y="4478"/>
                  </a:moveTo>
                  <a:cubicBezTo>
                    <a:pt x="3049" y="4513"/>
                    <a:pt x="3204" y="4549"/>
                    <a:pt x="3335" y="4585"/>
                  </a:cubicBezTo>
                  <a:cubicBezTo>
                    <a:pt x="3585" y="4668"/>
                    <a:pt x="3811" y="4752"/>
                    <a:pt x="3989" y="4859"/>
                  </a:cubicBezTo>
                  <a:cubicBezTo>
                    <a:pt x="4168" y="4966"/>
                    <a:pt x="4299" y="5097"/>
                    <a:pt x="4382" y="5240"/>
                  </a:cubicBezTo>
                  <a:cubicBezTo>
                    <a:pt x="4478" y="5383"/>
                    <a:pt x="4501" y="5561"/>
                    <a:pt x="4501" y="5775"/>
                  </a:cubicBezTo>
                  <a:cubicBezTo>
                    <a:pt x="4501" y="6168"/>
                    <a:pt x="4347" y="6466"/>
                    <a:pt x="4037" y="6668"/>
                  </a:cubicBezTo>
                  <a:cubicBezTo>
                    <a:pt x="3763" y="6835"/>
                    <a:pt x="3489" y="6942"/>
                    <a:pt x="2894" y="6954"/>
                  </a:cubicBezTo>
                  <a:lnTo>
                    <a:pt x="2894" y="4478"/>
                  </a:lnTo>
                  <a:close/>
                  <a:moveTo>
                    <a:pt x="2299" y="1"/>
                  </a:moveTo>
                  <a:lnTo>
                    <a:pt x="2299" y="632"/>
                  </a:lnTo>
                  <a:cubicBezTo>
                    <a:pt x="2144" y="644"/>
                    <a:pt x="1894" y="680"/>
                    <a:pt x="1715" y="739"/>
                  </a:cubicBezTo>
                  <a:cubicBezTo>
                    <a:pt x="1418" y="823"/>
                    <a:pt x="1168" y="953"/>
                    <a:pt x="953" y="1108"/>
                  </a:cubicBezTo>
                  <a:cubicBezTo>
                    <a:pt x="727" y="1275"/>
                    <a:pt x="572" y="1489"/>
                    <a:pt x="453" y="1727"/>
                  </a:cubicBezTo>
                  <a:cubicBezTo>
                    <a:pt x="334" y="1977"/>
                    <a:pt x="275" y="2263"/>
                    <a:pt x="275" y="2573"/>
                  </a:cubicBezTo>
                  <a:cubicBezTo>
                    <a:pt x="275" y="2847"/>
                    <a:pt x="322" y="3085"/>
                    <a:pt x="417" y="3275"/>
                  </a:cubicBezTo>
                  <a:cubicBezTo>
                    <a:pt x="501" y="3466"/>
                    <a:pt x="644" y="3620"/>
                    <a:pt x="834" y="3763"/>
                  </a:cubicBezTo>
                  <a:cubicBezTo>
                    <a:pt x="1013" y="3894"/>
                    <a:pt x="1227" y="4001"/>
                    <a:pt x="1501" y="4097"/>
                  </a:cubicBezTo>
                  <a:cubicBezTo>
                    <a:pt x="1739" y="4180"/>
                    <a:pt x="2001" y="4252"/>
                    <a:pt x="2299" y="4323"/>
                  </a:cubicBezTo>
                  <a:lnTo>
                    <a:pt x="2299" y="6930"/>
                  </a:lnTo>
                  <a:cubicBezTo>
                    <a:pt x="2299" y="6918"/>
                    <a:pt x="2120" y="6907"/>
                    <a:pt x="2025" y="6883"/>
                  </a:cubicBezTo>
                  <a:cubicBezTo>
                    <a:pt x="1787" y="6835"/>
                    <a:pt x="1572" y="6776"/>
                    <a:pt x="1358" y="6680"/>
                  </a:cubicBezTo>
                  <a:cubicBezTo>
                    <a:pt x="1156" y="6597"/>
                    <a:pt x="965" y="6490"/>
                    <a:pt x="798" y="6383"/>
                  </a:cubicBezTo>
                  <a:cubicBezTo>
                    <a:pt x="620" y="6264"/>
                    <a:pt x="477" y="6145"/>
                    <a:pt x="358" y="6014"/>
                  </a:cubicBezTo>
                  <a:lnTo>
                    <a:pt x="1" y="6561"/>
                  </a:lnTo>
                  <a:cubicBezTo>
                    <a:pt x="668" y="7133"/>
                    <a:pt x="1406" y="7454"/>
                    <a:pt x="2299" y="7538"/>
                  </a:cubicBezTo>
                  <a:lnTo>
                    <a:pt x="2299" y="8335"/>
                  </a:lnTo>
                  <a:lnTo>
                    <a:pt x="2894" y="8335"/>
                  </a:lnTo>
                  <a:lnTo>
                    <a:pt x="2894" y="7550"/>
                  </a:lnTo>
                  <a:cubicBezTo>
                    <a:pt x="3192" y="7538"/>
                    <a:pt x="3489" y="7502"/>
                    <a:pt x="3739" y="7442"/>
                  </a:cubicBezTo>
                  <a:cubicBezTo>
                    <a:pt x="4037" y="7371"/>
                    <a:pt x="4311" y="7252"/>
                    <a:pt x="4525" y="7097"/>
                  </a:cubicBezTo>
                  <a:cubicBezTo>
                    <a:pt x="4751" y="6942"/>
                    <a:pt x="4930" y="6752"/>
                    <a:pt x="5049" y="6526"/>
                  </a:cubicBezTo>
                  <a:cubicBezTo>
                    <a:pt x="5168" y="6287"/>
                    <a:pt x="5228" y="6026"/>
                    <a:pt x="5228" y="5704"/>
                  </a:cubicBezTo>
                  <a:cubicBezTo>
                    <a:pt x="5228" y="5395"/>
                    <a:pt x="5180" y="5144"/>
                    <a:pt x="5073" y="4930"/>
                  </a:cubicBezTo>
                  <a:cubicBezTo>
                    <a:pt x="4966" y="4728"/>
                    <a:pt x="4811" y="4549"/>
                    <a:pt x="4597" y="4406"/>
                  </a:cubicBezTo>
                  <a:cubicBezTo>
                    <a:pt x="4394" y="4263"/>
                    <a:pt x="4120" y="4144"/>
                    <a:pt x="3823" y="4049"/>
                  </a:cubicBezTo>
                  <a:cubicBezTo>
                    <a:pt x="3561" y="3954"/>
                    <a:pt x="3335" y="3882"/>
                    <a:pt x="2894" y="3811"/>
                  </a:cubicBezTo>
                  <a:lnTo>
                    <a:pt x="2894" y="1215"/>
                  </a:lnTo>
                  <a:cubicBezTo>
                    <a:pt x="3192" y="1239"/>
                    <a:pt x="3513" y="1299"/>
                    <a:pt x="3775" y="1406"/>
                  </a:cubicBezTo>
                  <a:cubicBezTo>
                    <a:pt x="4097" y="1549"/>
                    <a:pt x="4370" y="1715"/>
                    <a:pt x="4561" y="1942"/>
                  </a:cubicBezTo>
                  <a:lnTo>
                    <a:pt x="4894" y="1394"/>
                  </a:lnTo>
                  <a:cubicBezTo>
                    <a:pt x="4608" y="1144"/>
                    <a:pt x="4263" y="953"/>
                    <a:pt x="3906" y="811"/>
                  </a:cubicBezTo>
                  <a:cubicBezTo>
                    <a:pt x="3608" y="703"/>
                    <a:pt x="3335" y="632"/>
                    <a:pt x="2894" y="62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</p:grpSp>
      <p:sp>
        <p:nvSpPr>
          <p:cNvPr id="83" name="Google Shape;83;p15"/>
          <p:cNvSpPr txBox="1"/>
          <p:nvPr/>
        </p:nvSpPr>
        <p:spPr>
          <a:xfrm>
            <a:off x="2047461" y="4488509"/>
            <a:ext cx="1999857" cy="7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>
              <a:defRPr lang="ru-RU"/>
            </a:defPPr>
            <a:lvl1pPr>
              <a:defRPr sz="120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</a:defRPr>
            </a:lvl1pPr>
          </a:lstStyle>
          <a:p>
            <a:r>
              <a:rPr lang="en-US" dirty="0">
                <a:sym typeface="Roboto"/>
              </a:rPr>
              <a:t>I</a:t>
            </a:r>
            <a:r>
              <a:rPr lang="uz-Latn-UZ" dirty="0">
                <a:sym typeface="Roboto"/>
              </a:rPr>
              <a:t>lk "chatbot" bo'lib, bu inson bilan oddiy matnli suhbatni imitatsiya qil</a:t>
            </a:r>
            <a:r>
              <a:rPr lang="en-US" dirty="0" err="1">
                <a:sym typeface="Roboto"/>
              </a:rPr>
              <a:t>gan</a:t>
            </a:r>
            <a:r>
              <a:rPr lang="uz-Latn-UZ" dirty="0">
                <a:sym typeface="Roboto"/>
              </a:rPr>
              <a:t> </a:t>
            </a:r>
            <a:endParaRPr dirty="0">
              <a:sym typeface="Roboto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2047461" y="4242763"/>
            <a:ext cx="1999857" cy="319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uz-Latn-UZ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ELIZA dasturi</a:t>
            </a:r>
            <a:r>
              <a:rPr lang="en-US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, 1966</a:t>
            </a:r>
            <a:endParaRPr sz="2200" dirty="0">
              <a:solidFill>
                <a:srgbClr val="434343"/>
              </a:solidFill>
              <a:latin typeface="Bahnschrift SemiBold Condensed" panose="020B0502040204020203" pitchFamily="34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7212400" y="3904090"/>
            <a:ext cx="306833" cy="2448605"/>
          </a:xfrm>
          <a:custGeom>
            <a:avLst/>
            <a:gdLst/>
            <a:ahLst/>
            <a:cxnLst/>
            <a:rect l="l" t="t" r="r" b="b"/>
            <a:pathLst>
              <a:path w="9205" h="44804" extrusionOk="0">
                <a:moveTo>
                  <a:pt x="7097" y="0"/>
                </a:moveTo>
                <a:cubicBezTo>
                  <a:pt x="2811" y="2143"/>
                  <a:pt x="1" y="6549"/>
                  <a:pt x="1" y="11514"/>
                </a:cubicBezTo>
                <a:lnTo>
                  <a:pt x="1" y="44803"/>
                </a:lnTo>
                <a:lnTo>
                  <a:pt x="2180" y="44803"/>
                </a:lnTo>
                <a:lnTo>
                  <a:pt x="2180" y="11514"/>
                </a:lnTo>
                <a:cubicBezTo>
                  <a:pt x="2180" y="6965"/>
                  <a:pt x="5025" y="2989"/>
                  <a:pt x="9204" y="1477"/>
                </a:cubicBezTo>
                <a:lnTo>
                  <a:pt x="9204" y="0"/>
                </a:lnTo>
                <a:close/>
              </a:path>
            </a:pathLst>
          </a:custGeom>
          <a:solidFill>
            <a:srgbClr val="69E78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Bahnschrift Light Condensed" panose="020B0502040204020203" pitchFamily="34" charset="0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6194433" y="3258433"/>
            <a:ext cx="1653800" cy="785433"/>
          </a:xfrm>
          <a:custGeom>
            <a:avLst/>
            <a:gdLst/>
            <a:ahLst/>
            <a:cxnLst/>
            <a:rect l="l" t="t" r="r" b="b"/>
            <a:pathLst>
              <a:path w="49614" h="23563" extrusionOk="0">
                <a:moveTo>
                  <a:pt x="0" y="0"/>
                </a:moveTo>
                <a:cubicBezTo>
                  <a:pt x="4620" y="1917"/>
                  <a:pt x="7870" y="6477"/>
                  <a:pt x="7870" y="11788"/>
                </a:cubicBezTo>
                <a:cubicBezTo>
                  <a:pt x="7870" y="17098"/>
                  <a:pt x="4620" y="21646"/>
                  <a:pt x="0" y="23563"/>
                </a:cubicBezTo>
                <a:lnTo>
                  <a:pt x="37826" y="23563"/>
                </a:lnTo>
                <a:cubicBezTo>
                  <a:pt x="44339" y="23563"/>
                  <a:pt x="49614" y="18288"/>
                  <a:pt x="49614" y="11788"/>
                </a:cubicBezTo>
                <a:cubicBezTo>
                  <a:pt x="49614" y="5275"/>
                  <a:pt x="44339" y="0"/>
                  <a:pt x="37826" y="0"/>
                </a:cubicBezTo>
                <a:close/>
              </a:path>
            </a:pathLst>
          </a:custGeom>
          <a:solidFill>
            <a:srgbClr val="69E78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267" dirty="0">
                <a:solidFill>
                  <a:srgbClr val="FFFFFF"/>
                </a:solidFill>
                <a:latin typeface="Bahnschrift Light Condensed" panose="020B0502040204020203" pitchFamily="34" charset="0"/>
                <a:ea typeface="Fira Sans Extra Condensed"/>
                <a:cs typeface="Fira Sans Extra Condensed"/>
                <a:sym typeface="Fira Sans Extra Condensed"/>
              </a:rPr>
              <a:t>1990-00</a:t>
            </a:r>
            <a:endParaRPr sz="2267" dirty="0">
              <a:solidFill>
                <a:srgbClr val="FFFFFF"/>
              </a:solidFill>
              <a:latin typeface="Bahnschrift Light Condensed" panose="020B0502040204020203" pitchFamily="34" charset="0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388E3437-5553-E87B-F5C3-7571CC6D3E60}"/>
              </a:ext>
            </a:extLst>
          </p:cNvPr>
          <p:cNvGrpSpPr/>
          <p:nvPr/>
        </p:nvGrpSpPr>
        <p:grpSpPr>
          <a:xfrm>
            <a:off x="7485467" y="5875115"/>
            <a:ext cx="421500" cy="432600"/>
            <a:chOff x="7485467" y="5070967"/>
            <a:chExt cx="421500" cy="432600"/>
          </a:xfrm>
        </p:grpSpPr>
        <p:sp>
          <p:nvSpPr>
            <p:cNvPr id="88" name="Google Shape;88;p15"/>
            <p:cNvSpPr/>
            <p:nvPr/>
          </p:nvSpPr>
          <p:spPr>
            <a:xfrm>
              <a:off x="7557700" y="5260267"/>
              <a:ext cx="29400" cy="29400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41" y="0"/>
                  </a:moveTo>
                  <a:cubicBezTo>
                    <a:pt x="203" y="0"/>
                    <a:pt x="0" y="203"/>
                    <a:pt x="0" y="441"/>
                  </a:cubicBezTo>
                  <a:cubicBezTo>
                    <a:pt x="0" y="691"/>
                    <a:pt x="203" y="881"/>
                    <a:pt x="441" y="881"/>
                  </a:cubicBezTo>
                  <a:cubicBezTo>
                    <a:pt x="691" y="881"/>
                    <a:pt x="881" y="691"/>
                    <a:pt x="881" y="441"/>
                  </a:cubicBezTo>
                  <a:cubicBezTo>
                    <a:pt x="881" y="203"/>
                    <a:pt x="691" y="0"/>
                    <a:pt x="44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7616433" y="5260267"/>
              <a:ext cx="29800" cy="29400"/>
            </a:xfrm>
            <a:custGeom>
              <a:avLst/>
              <a:gdLst/>
              <a:ahLst/>
              <a:cxnLst/>
              <a:rect l="l" t="t" r="r" b="b"/>
              <a:pathLst>
                <a:path w="894" h="882" extrusionOk="0">
                  <a:moveTo>
                    <a:pt x="441" y="0"/>
                  </a:moveTo>
                  <a:cubicBezTo>
                    <a:pt x="203" y="0"/>
                    <a:pt x="0" y="203"/>
                    <a:pt x="0" y="441"/>
                  </a:cubicBezTo>
                  <a:cubicBezTo>
                    <a:pt x="0" y="691"/>
                    <a:pt x="203" y="881"/>
                    <a:pt x="441" y="881"/>
                  </a:cubicBezTo>
                  <a:cubicBezTo>
                    <a:pt x="691" y="881"/>
                    <a:pt x="893" y="691"/>
                    <a:pt x="893" y="441"/>
                  </a:cubicBezTo>
                  <a:cubicBezTo>
                    <a:pt x="893" y="203"/>
                    <a:pt x="691" y="0"/>
                    <a:pt x="44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675567" y="5260267"/>
              <a:ext cx="29400" cy="29400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41" y="0"/>
                  </a:moveTo>
                  <a:cubicBezTo>
                    <a:pt x="191" y="0"/>
                    <a:pt x="0" y="203"/>
                    <a:pt x="0" y="441"/>
                  </a:cubicBezTo>
                  <a:cubicBezTo>
                    <a:pt x="0" y="691"/>
                    <a:pt x="191" y="881"/>
                    <a:pt x="441" y="881"/>
                  </a:cubicBezTo>
                  <a:cubicBezTo>
                    <a:pt x="679" y="881"/>
                    <a:pt x="881" y="691"/>
                    <a:pt x="881" y="441"/>
                  </a:cubicBezTo>
                  <a:cubicBezTo>
                    <a:pt x="881" y="203"/>
                    <a:pt x="679" y="0"/>
                    <a:pt x="44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7734300" y="5260267"/>
              <a:ext cx="29400" cy="29400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41" y="0"/>
                  </a:moveTo>
                  <a:cubicBezTo>
                    <a:pt x="191" y="0"/>
                    <a:pt x="1" y="203"/>
                    <a:pt x="1" y="441"/>
                  </a:cubicBezTo>
                  <a:cubicBezTo>
                    <a:pt x="1" y="691"/>
                    <a:pt x="191" y="881"/>
                    <a:pt x="441" y="881"/>
                  </a:cubicBezTo>
                  <a:cubicBezTo>
                    <a:pt x="679" y="881"/>
                    <a:pt x="882" y="691"/>
                    <a:pt x="882" y="441"/>
                  </a:cubicBezTo>
                  <a:cubicBezTo>
                    <a:pt x="882" y="203"/>
                    <a:pt x="679" y="0"/>
                    <a:pt x="44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7485467" y="5070967"/>
              <a:ext cx="421500" cy="432600"/>
            </a:xfrm>
            <a:custGeom>
              <a:avLst/>
              <a:gdLst/>
              <a:ahLst/>
              <a:cxnLst/>
              <a:rect l="l" t="t" r="r" b="b"/>
              <a:pathLst>
                <a:path w="12645" h="12978" extrusionOk="0">
                  <a:moveTo>
                    <a:pt x="11406" y="583"/>
                  </a:moveTo>
                  <a:cubicBezTo>
                    <a:pt x="11799" y="583"/>
                    <a:pt x="12192" y="881"/>
                    <a:pt x="12192" y="1286"/>
                  </a:cubicBezTo>
                  <a:lnTo>
                    <a:pt x="12192" y="5441"/>
                  </a:lnTo>
                  <a:lnTo>
                    <a:pt x="12204" y="5441"/>
                  </a:lnTo>
                  <a:cubicBezTo>
                    <a:pt x="12204" y="5763"/>
                    <a:pt x="12026" y="5882"/>
                    <a:pt x="12026" y="5882"/>
                  </a:cubicBezTo>
                  <a:lnTo>
                    <a:pt x="11966" y="5917"/>
                  </a:lnTo>
                  <a:cubicBezTo>
                    <a:pt x="11871" y="6025"/>
                    <a:pt x="11776" y="6132"/>
                    <a:pt x="11728" y="6156"/>
                  </a:cubicBezTo>
                  <a:lnTo>
                    <a:pt x="10418" y="7180"/>
                  </a:lnTo>
                  <a:lnTo>
                    <a:pt x="10418" y="3977"/>
                  </a:lnTo>
                  <a:cubicBezTo>
                    <a:pt x="10418" y="3274"/>
                    <a:pt x="9787" y="2667"/>
                    <a:pt x="9085" y="2667"/>
                  </a:cubicBezTo>
                  <a:lnTo>
                    <a:pt x="2822" y="2667"/>
                  </a:lnTo>
                  <a:lnTo>
                    <a:pt x="2822" y="1286"/>
                  </a:lnTo>
                  <a:cubicBezTo>
                    <a:pt x="2822" y="881"/>
                    <a:pt x="3120" y="583"/>
                    <a:pt x="3525" y="583"/>
                  </a:cubicBezTo>
                  <a:close/>
                  <a:moveTo>
                    <a:pt x="9085" y="3274"/>
                  </a:moveTo>
                  <a:cubicBezTo>
                    <a:pt x="9466" y="3274"/>
                    <a:pt x="9823" y="3596"/>
                    <a:pt x="9823" y="3977"/>
                  </a:cubicBezTo>
                  <a:lnTo>
                    <a:pt x="9823" y="8144"/>
                  </a:lnTo>
                  <a:cubicBezTo>
                    <a:pt x="9823" y="8442"/>
                    <a:pt x="9668" y="8561"/>
                    <a:pt x="9668" y="8561"/>
                  </a:cubicBezTo>
                  <a:lnTo>
                    <a:pt x="9621" y="8608"/>
                  </a:lnTo>
                  <a:cubicBezTo>
                    <a:pt x="9525" y="8704"/>
                    <a:pt x="9371" y="8823"/>
                    <a:pt x="9335" y="8846"/>
                  </a:cubicBezTo>
                  <a:lnTo>
                    <a:pt x="5358" y="11835"/>
                  </a:lnTo>
                  <a:lnTo>
                    <a:pt x="5358" y="8775"/>
                  </a:lnTo>
                  <a:lnTo>
                    <a:pt x="1203" y="8775"/>
                  </a:lnTo>
                  <a:cubicBezTo>
                    <a:pt x="810" y="8775"/>
                    <a:pt x="441" y="8525"/>
                    <a:pt x="441" y="8144"/>
                  </a:cubicBezTo>
                  <a:lnTo>
                    <a:pt x="441" y="3977"/>
                  </a:lnTo>
                  <a:cubicBezTo>
                    <a:pt x="441" y="3596"/>
                    <a:pt x="810" y="3274"/>
                    <a:pt x="1203" y="3274"/>
                  </a:cubicBezTo>
                  <a:close/>
                  <a:moveTo>
                    <a:pt x="3525" y="0"/>
                  </a:moveTo>
                  <a:cubicBezTo>
                    <a:pt x="2834" y="0"/>
                    <a:pt x="2227" y="595"/>
                    <a:pt x="2227" y="1286"/>
                  </a:cubicBezTo>
                  <a:lnTo>
                    <a:pt x="2227" y="2679"/>
                  </a:lnTo>
                  <a:lnTo>
                    <a:pt x="1203" y="2679"/>
                  </a:lnTo>
                  <a:cubicBezTo>
                    <a:pt x="500" y="2679"/>
                    <a:pt x="0" y="3274"/>
                    <a:pt x="0" y="3977"/>
                  </a:cubicBezTo>
                  <a:lnTo>
                    <a:pt x="0" y="8144"/>
                  </a:lnTo>
                  <a:cubicBezTo>
                    <a:pt x="0" y="8846"/>
                    <a:pt x="500" y="9370"/>
                    <a:pt x="1203" y="9370"/>
                  </a:cubicBezTo>
                  <a:lnTo>
                    <a:pt x="4906" y="9370"/>
                  </a:lnTo>
                  <a:lnTo>
                    <a:pt x="4906" y="12978"/>
                  </a:lnTo>
                  <a:lnTo>
                    <a:pt x="9680" y="9323"/>
                  </a:lnTo>
                  <a:cubicBezTo>
                    <a:pt x="9799" y="9251"/>
                    <a:pt x="9978" y="9085"/>
                    <a:pt x="10061" y="9001"/>
                  </a:cubicBezTo>
                  <a:cubicBezTo>
                    <a:pt x="10144" y="8918"/>
                    <a:pt x="10406" y="8656"/>
                    <a:pt x="10406" y="8144"/>
                  </a:cubicBezTo>
                  <a:lnTo>
                    <a:pt x="10406" y="7834"/>
                  </a:lnTo>
                  <a:lnTo>
                    <a:pt x="11990" y="6608"/>
                  </a:lnTo>
                  <a:cubicBezTo>
                    <a:pt x="12109" y="6537"/>
                    <a:pt x="12252" y="6370"/>
                    <a:pt x="12335" y="6287"/>
                  </a:cubicBezTo>
                  <a:cubicBezTo>
                    <a:pt x="12419" y="6203"/>
                    <a:pt x="12645" y="5953"/>
                    <a:pt x="12645" y="5441"/>
                  </a:cubicBezTo>
                  <a:lnTo>
                    <a:pt x="12645" y="1286"/>
                  </a:lnTo>
                  <a:cubicBezTo>
                    <a:pt x="12645" y="595"/>
                    <a:pt x="12097" y="0"/>
                    <a:pt x="11406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</p:grpSp>
      <p:sp>
        <p:nvSpPr>
          <p:cNvPr id="96" name="Google Shape;96;p15"/>
          <p:cNvSpPr/>
          <p:nvPr/>
        </p:nvSpPr>
        <p:spPr>
          <a:xfrm>
            <a:off x="10373134" y="3904090"/>
            <a:ext cx="306800" cy="2448605"/>
          </a:xfrm>
          <a:custGeom>
            <a:avLst/>
            <a:gdLst/>
            <a:ahLst/>
            <a:cxnLst/>
            <a:rect l="l" t="t" r="r" b="b"/>
            <a:pathLst>
              <a:path w="9204" h="44804" extrusionOk="0">
                <a:moveTo>
                  <a:pt x="7096" y="0"/>
                </a:moveTo>
                <a:cubicBezTo>
                  <a:pt x="2810" y="2143"/>
                  <a:pt x="0" y="6549"/>
                  <a:pt x="0" y="11514"/>
                </a:cubicBezTo>
                <a:lnTo>
                  <a:pt x="0" y="44803"/>
                </a:lnTo>
                <a:lnTo>
                  <a:pt x="2179" y="44803"/>
                </a:lnTo>
                <a:lnTo>
                  <a:pt x="2179" y="11514"/>
                </a:lnTo>
                <a:cubicBezTo>
                  <a:pt x="2179" y="6965"/>
                  <a:pt x="5025" y="2989"/>
                  <a:pt x="9204" y="1477"/>
                </a:cubicBezTo>
                <a:lnTo>
                  <a:pt x="9204" y="0"/>
                </a:lnTo>
                <a:close/>
              </a:path>
            </a:pathLst>
          </a:custGeom>
          <a:solidFill>
            <a:srgbClr val="EC3A3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Bahnschrift Light Condensed" panose="020B0502040204020203" pitchFamily="34" charset="0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9355134" y="3258433"/>
            <a:ext cx="1653800" cy="785433"/>
          </a:xfrm>
          <a:custGeom>
            <a:avLst/>
            <a:gdLst/>
            <a:ahLst/>
            <a:cxnLst/>
            <a:rect l="l" t="t" r="r" b="b"/>
            <a:pathLst>
              <a:path w="49614" h="23563" extrusionOk="0">
                <a:moveTo>
                  <a:pt x="1" y="0"/>
                </a:moveTo>
                <a:cubicBezTo>
                  <a:pt x="4620" y="1917"/>
                  <a:pt x="7871" y="6477"/>
                  <a:pt x="7871" y="11788"/>
                </a:cubicBezTo>
                <a:cubicBezTo>
                  <a:pt x="7871" y="17098"/>
                  <a:pt x="4620" y="21646"/>
                  <a:pt x="1" y="23563"/>
                </a:cubicBezTo>
                <a:lnTo>
                  <a:pt x="37827" y="23563"/>
                </a:lnTo>
                <a:cubicBezTo>
                  <a:pt x="44340" y="23563"/>
                  <a:pt x="49614" y="18288"/>
                  <a:pt x="49614" y="11788"/>
                </a:cubicBezTo>
                <a:cubicBezTo>
                  <a:pt x="49614" y="5275"/>
                  <a:pt x="44340" y="0"/>
                  <a:pt x="37827" y="0"/>
                </a:cubicBezTo>
                <a:close/>
              </a:path>
            </a:pathLst>
          </a:custGeom>
          <a:solidFill>
            <a:srgbClr val="EC3A3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267" dirty="0">
                <a:solidFill>
                  <a:srgbClr val="FFFFFF"/>
                </a:solidFill>
                <a:latin typeface="Bahnschrift Light Condensed" panose="020B0502040204020203" pitchFamily="34" charset="0"/>
                <a:ea typeface="Fira Sans Extra Condensed"/>
                <a:cs typeface="Fira Sans Extra Condensed"/>
                <a:sym typeface="Fira Sans Extra Condensed"/>
              </a:rPr>
              <a:t>2020</a:t>
            </a:r>
            <a:endParaRPr sz="2267" dirty="0">
              <a:solidFill>
                <a:srgbClr val="FFFFFF"/>
              </a:solidFill>
              <a:latin typeface="Bahnschrift Light Condensed" panose="020B0502040204020203" pitchFamily="34" charset="0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8113453-27BF-85F8-96E0-40882BED07C3}"/>
              </a:ext>
            </a:extLst>
          </p:cNvPr>
          <p:cNvGrpSpPr/>
          <p:nvPr/>
        </p:nvGrpSpPr>
        <p:grpSpPr>
          <a:xfrm>
            <a:off x="10600934" y="5924715"/>
            <a:ext cx="377067" cy="371900"/>
            <a:chOff x="10600934" y="5120567"/>
            <a:chExt cx="377067" cy="371900"/>
          </a:xfrm>
        </p:grpSpPr>
        <p:sp>
          <p:nvSpPr>
            <p:cNvPr id="98" name="Google Shape;98;p15"/>
            <p:cNvSpPr/>
            <p:nvPr/>
          </p:nvSpPr>
          <p:spPr>
            <a:xfrm>
              <a:off x="10600934" y="5120567"/>
              <a:ext cx="377067" cy="371900"/>
            </a:xfrm>
            <a:custGeom>
              <a:avLst/>
              <a:gdLst/>
              <a:ahLst/>
              <a:cxnLst/>
              <a:rect l="l" t="t" r="r" b="b"/>
              <a:pathLst>
                <a:path w="11312" h="11157" extrusionOk="0">
                  <a:moveTo>
                    <a:pt x="9918" y="596"/>
                  </a:moveTo>
                  <a:cubicBezTo>
                    <a:pt x="10359" y="596"/>
                    <a:pt x="10716" y="941"/>
                    <a:pt x="10716" y="1381"/>
                  </a:cubicBezTo>
                  <a:lnTo>
                    <a:pt x="10716" y="6501"/>
                  </a:lnTo>
                  <a:cubicBezTo>
                    <a:pt x="10716" y="6930"/>
                    <a:pt x="10359" y="7287"/>
                    <a:pt x="9918" y="7287"/>
                  </a:cubicBezTo>
                  <a:lnTo>
                    <a:pt x="1381" y="7287"/>
                  </a:lnTo>
                  <a:cubicBezTo>
                    <a:pt x="941" y="7287"/>
                    <a:pt x="596" y="6930"/>
                    <a:pt x="596" y="6501"/>
                  </a:cubicBezTo>
                  <a:lnTo>
                    <a:pt x="596" y="1381"/>
                  </a:lnTo>
                  <a:cubicBezTo>
                    <a:pt x="596" y="941"/>
                    <a:pt x="941" y="596"/>
                    <a:pt x="1381" y="596"/>
                  </a:cubicBezTo>
                  <a:close/>
                  <a:moveTo>
                    <a:pt x="6989" y="7739"/>
                  </a:moveTo>
                  <a:lnTo>
                    <a:pt x="6989" y="9073"/>
                  </a:lnTo>
                  <a:lnTo>
                    <a:pt x="4310" y="9073"/>
                  </a:lnTo>
                  <a:lnTo>
                    <a:pt x="4310" y="7739"/>
                  </a:lnTo>
                  <a:close/>
                  <a:moveTo>
                    <a:pt x="9156" y="9668"/>
                  </a:moveTo>
                  <a:cubicBezTo>
                    <a:pt x="9490" y="9668"/>
                    <a:pt x="9823" y="9954"/>
                    <a:pt x="9823" y="10275"/>
                  </a:cubicBezTo>
                  <a:lnTo>
                    <a:pt x="9823" y="10561"/>
                  </a:lnTo>
                  <a:lnTo>
                    <a:pt x="1632" y="10561"/>
                  </a:lnTo>
                  <a:lnTo>
                    <a:pt x="1632" y="10275"/>
                  </a:lnTo>
                  <a:cubicBezTo>
                    <a:pt x="1632" y="9954"/>
                    <a:pt x="1834" y="9668"/>
                    <a:pt x="2155" y="9668"/>
                  </a:cubicBezTo>
                  <a:close/>
                  <a:moveTo>
                    <a:pt x="1393" y="0"/>
                  </a:moveTo>
                  <a:cubicBezTo>
                    <a:pt x="655" y="0"/>
                    <a:pt x="0" y="608"/>
                    <a:pt x="0" y="1358"/>
                  </a:cubicBezTo>
                  <a:lnTo>
                    <a:pt x="0" y="6430"/>
                  </a:lnTo>
                  <a:cubicBezTo>
                    <a:pt x="0" y="7168"/>
                    <a:pt x="655" y="7739"/>
                    <a:pt x="1393" y="7739"/>
                  </a:cubicBezTo>
                  <a:lnTo>
                    <a:pt x="3870" y="7739"/>
                  </a:lnTo>
                  <a:lnTo>
                    <a:pt x="3870" y="9073"/>
                  </a:lnTo>
                  <a:lnTo>
                    <a:pt x="2155" y="9073"/>
                  </a:lnTo>
                  <a:cubicBezTo>
                    <a:pt x="1512" y="9073"/>
                    <a:pt x="1036" y="9632"/>
                    <a:pt x="1036" y="10275"/>
                  </a:cubicBezTo>
                  <a:lnTo>
                    <a:pt x="1036" y="11156"/>
                  </a:lnTo>
                  <a:lnTo>
                    <a:pt x="10264" y="11156"/>
                  </a:lnTo>
                  <a:lnTo>
                    <a:pt x="10264" y="10275"/>
                  </a:lnTo>
                  <a:cubicBezTo>
                    <a:pt x="10264" y="9632"/>
                    <a:pt x="9799" y="9073"/>
                    <a:pt x="9156" y="9073"/>
                  </a:cubicBezTo>
                  <a:lnTo>
                    <a:pt x="7585" y="9073"/>
                  </a:lnTo>
                  <a:lnTo>
                    <a:pt x="7585" y="7739"/>
                  </a:lnTo>
                  <a:lnTo>
                    <a:pt x="9918" y="7739"/>
                  </a:lnTo>
                  <a:cubicBezTo>
                    <a:pt x="10668" y="7739"/>
                    <a:pt x="11311" y="7168"/>
                    <a:pt x="11311" y="6430"/>
                  </a:cubicBezTo>
                  <a:lnTo>
                    <a:pt x="11311" y="1358"/>
                  </a:lnTo>
                  <a:cubicBezTo>
                    <a:pt x="11311" y="608"/>
                    <a:pt x="10668" y="0"/>
                    <a:pt x="9918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10700134" y="5155100"/>
              <a:ext cx="238167" cy="154000"/>
            </a:xfrm>
            <a:custGeom>
              <a:avLst/>
              <a:gdLst/>
              <a:ahLst/>
              <a:cxnLst/>
              <a:rect l="l" t="t" r="r" b="b"/>
              <a:pathLst>
                <a:path w="7145" h="4620" extrusionOk="0">
                  <a:moveTo>
                    <a:pt x="1" y="0"/>
                  </a:moveTo>
                  <a:lnTo>
                    <a:pt x="1" y="596"/>
                  </a:lnTo>
                  <a:lnTo>
                    <a:pt x="6025" y="596"/>
                  </a:lnTo>
                  <a:cubicBezTo>
                    <a:pt x="6299" y="596"/>
                    <a:pt x="6549" y="857"/>
                    <a:pt x="6549" y="1131"/>
                  </a:cubicBezTo>
                  <a:lnTo>
                    <a:pt x="6549" y="4620"/>
                  </a:lnTo>
                  <a:lnTo>
                    <a:pt x="7145" y="4620"/>
                  </a:lnTo>
                  <a:lnTo>
                    <a:pt x="7145" y="1131"/>
                  </a:lnTo>
                  <a:cubicBezTo>
                    <a:pt x="7145" y="536"/>
                    <a:pt x="6609" y="0"/>
                    <a:pt x="6025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Bahnschrift Light Condensed" panose="020B0502040204020203" pitchFamily="34" charset="0"/>
              </a:endParaRPr>
            </a:p>
          </p:txBody>
        </p:sp>
      </p:grp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7F6C417-384D-6C6F-D2CB-FA822A230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05305"/>
            <a:ext cx="10634472" cy="628262"/>
          </a:xfrm>
        </p:spPr>
        <p:txBody>
          <a:bodyPr/>
          <a:lstStyle/>
          <a:p>
            <a:r>
              <a:rPr lang="uz-Latn-UZ" sz="4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Sun'iy intellektning evolyutsiyasi</a:t>
            </a:r>
            <a:endParaRPr lang="ru-RU" sz="44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3" name="Google Shape;83;p15">
            <a:extLst>
              <a:ext uri="{FF2B5EF4-FFF2-40B4-BE49-F238E27FC236}">
                <a16:creationId xmlns:a16="http://schemas.microsoft.com/office/drawing/2014/main" id="{E683F866-3B42-5145-A7B1-CAE249ED2CCE}"/>
              </a:ext>
            </a:extLst>
          </p:cNvPr>
          <p:cNvSpPr txBox="1"/>
          <p:nvPr/>
        </p:nvSpPr>
        <p:spPr>
          <a:xfrm>
            <a:off x="556592" y="1517672"/>
            <a:ext cx="1993740" cy="48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Bu test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hali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ham AI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tizimlarini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baholashda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ishlatiladi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id="14" name="Google Shape;83;p15">
            <a:extLst>
              <a:ext uri="{FF2B5EF4-FFF2-40B4-BE49-F238E27FC236}">
                <a16:creationId xmlns:a16="http://schemas.microsoft.com/office/drawing/2014/main" id="{741B7CAB-DF43-56E5-AF84-8CAF54A4858E}"/>
              </a:ext>
            </a:extLst>
          </p:cNvPr>
          <p:cNvSpPr txBox="1"/>
          <p:nvPr/>
        </p:nvSpPr>
        <p:spPr>
          <a:xfrm>
            <a:off x="556592" y="2468237"/>
            <a:ext cx="1993740" cy="48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Bu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sun'iy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intellektni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ilmiy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soha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sifatida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rasmiylashtirildi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id="15" name="Google Shape;83;p15">
            <a:extLst>
              <a:ext uri="{FF2B5EF4-FFF2-40B4-BE49-F238E27FC236}">
                <a16:creationId xmlns:a16="http://schemas.microsoft.com/office/drawing/2014/main" id="{80CAA212-E39E-3573-77A6-259B24B0545C}"/>
              </a:ext>
            </a:extLst>
          </p:cNvPr>
          <p:cNvSpPr txBox="1"/>
          <p:nvPr/>
        </p:nvSpPr>
        <p:spPr>
          <a:xfrm>
            <a:off x="2047461" y="5492105"/>
            <a:ext cx="1999857" cy="7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>
              <a:defRPr lang="ru-RU"/>
            </a:defPPr>
            <a:lvl1pPr>
              <a:defRPr sz="120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</a:defRPr>
            </a:lvl1pPr>
          </a:lstStyle>
          <a:p>
            <a:r>
              <a:rPr lang="en-US" dirty="0" err="1">
                <a:sym typeface="Roboto"/>
              </a:rPr>
              <a:t>O'sha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davrda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sun'iy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intellekt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dasturlari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uchun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asosiy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tili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edi</a:t>
            </a:r>
            <a:endParaRPr dirty="0">
              <a:sym typeface="Roboto"/>
            </a:endParaRPr>
          </a:p>
        </p:txBody>
      </p:sp>
      <p:sp>
        <p:nvSpPr>
          <p:cNvPr id="16" name="Google Shape;84;p15">
            <a:extLst>
              <a:ext uri="{FF2B5EF4-FFF2-40B4-BE49-F238E27FC236}">
                <a16:creationId xmlns:a16="http://schemas.microsoft.com/office/drawing/2014/main" id="{0D8C0BFC-923E-3783-3EFD-DA6015A2E66B}"/>
              </a:ext>
            </a:extLst>
          </p:cNvPr>
          <p:cNvSpPr txBox="1"/>
          <p:nvPr/>
        </p:nvSpPr>
        <p:spPr>
          <a:xfrm>
            <a:off x="2178918" y="5246359"/>
            <a:ext cx="1868400" cy="319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-US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LISP</a:t>
            </a:r>
            <a:r>
              <a:rPr lang="uz-Latn-UZ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r>
              <a:rPr lang="en-US" sz="2200" dirty="0" err="1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tili</a:t>
            </a:r>
            <a:r>
              <a:rPr lang="en-US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, 1970</a:t>
            </a:r>
            <a:endParaRPr sz="2200" dirty="0">
              <a:solidFill>
                <a:srgbClr val="434343"/>
              </a:solidFill>
              <a:latin typeface="Bahnschrift SemiBold Condensed" panose="020B0502040204020203" pitchFamily="34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7" name="Google Shape;62;p15">
            <a:extLst>
              <a:ext uri="{FF2B5EF4-FFF2-40B4-BE49-F238E27FC236}">
                <a16:creationId xmlns:a16="http://schemas.microsoft.com/office/drawing/2014/main" id="{F4C09A0F-A4E2-9054-5244-5C81516BCFAE}"/>
              </a:ext>
            </a:extLst>
          </p:cNvPr>
          <p:cNvSpPr txBox="1"/>
          <p:nvPr/>
        </p:nvSpPr>
        <p:spPr>
          <a:xfrm>
            <a:off x="3978188" y="2281657"/>
            <a:ext cx="1741200" cy="298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uz-Latn-UZ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MYCIN</a:t>
            </a:r>
            <a:r>
              <a:rPr lang="en-US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, 1984</a:t>
            </a:r>
            <a:endParaRPr sz="2200" dirty="0">
              <a:solidFill>
                <a:srgbClr val="434343"/>
              </a:solidFill>
              <a:latin typeface="Bahnschrift SemiBold Condensed" panose="020B0502040204020203" pitchFamily="34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8" name="Google Shape;83;p15">
            <a:extLst>
              <a:ext uri="{FF2B5EF4-FFF2-40B4-BE49-F238E27FC236}">
                <a16:creationId xmlns:a16="http://schemas.microsoft.com/office/drawing/2014/main" id="{17EFCCB7-7225-DCE5-48D1-459639023399}"/>
              </a:ext>
            </a:extLst>
          </p:cNvPr>
          <p:cNvSpPr txBox="1"/>
          <p:nvPr/>
        </p:nvSpPr>
        <p:spPr>
          <a:xfrm>
            <a:off x="3753168" y="2468237"/>
            <a:ext cx="1966219" cy="48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Turli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kasalliklarga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tibbiy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tashxis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qo’yib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beruvchi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tizim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Bahnschrift Light Condensed" panose="020B0502040204020203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19" name="Google Shape;62;p15">
            <a:extLst>
              <a:ext uri="{FF2B5EF4-FFF2-40B4-BE49-F238E27FC236}">
                <a16:creationId xmlns:a16="http://schemas.microsoft.com/office/drawing/2014/main" id="{599B6AFF-3331-F960-3B07-5DEED49DF209}"/>
              </a:ext>
            </a:extLst>
          </p:cNvPr>
          <p:cNvSpPr txBox="1"/>
          <p:nvPr/>
        </p:nvSpPr>
        <p:spPr>
          <a:xfrm>
            <a:off x="3998435" y="1328878"/>
            <a:ext cx="1741200" cy="23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uz-Latn-UZ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DENDRAL</a:t>
            </a:r>
            <a:r>
              <a:rPr lang="en-US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,  1980</a:t>
            </a:r>
            <a:endParaRPr sz="2200" dirty="0">
              <a:solidFill>
                <a:srgbClr val="434343"/>
              </a:solidFill>
              <a:latin typeface="Bahnschrift SemiBold Condensed" panose="020B0502040204020203" pitchFamily="34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0" name="Google Shape;83;p15">
            <a:extLst>
              <a:ext uri="{FF2B5EF4-FFF2-40B4-BE49-F238E27FC236}">
                <a16:creationId xmlns:a16="http://schemas.microsoft.com/office/drawing/2014/main" id="{22AE54FA-F66C-6DF2-25FA-EA0966AF78F5}"/>
              </a:ext>
            </a:extLst>
          </p:cNvPr>
          <p:cNvSpPr txBox="1"/>
          <p:nvPr/>
        </p:nvSpPr>
        <p:spPr>
          <a:xfrm>
            <a:off x="3753168" y="1624335"/>
            <a:ext cx="1986466" cy="53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Kimyoviy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moddalarning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tuzilishini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aniqlashda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yordam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beruvchi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tizim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Bahnschrift Light Condensed" panose="020B0502040204020203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83;p15">
            <a:extLst>
              <a:ext uri="{FF2B5EF4-FFF2-40B4-BE49-F238E27FC236}">
                <a16:creationId xmlns:a16="http://schemas.microsoft.com/office/drawing/2014/main" id="{754435A4-D0AD-B844-3843-7327D829ABEB}"/>
              </a:ext>
            </a:extLst>
          </p:cNvPr>
          <p:cNvSpPr txBox="1"/>
          <p:nvPr/>
        </p:nvSpPr>
        <p:spPr>
          <a:xfrm>
            <a:off x="4799434" y="4488509"/>
            <a:ext cx="2443347" cy="7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>
              <a:defRPr lang="ru-RU"/>
            </a:defPPr>
            <a:lvl1pPr>
              <a:defRPr sz="120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</a:defRPr>
            </a:lvl1pPr>
          </a:lstStyle>
          <a:p>
            <a:r>
              <a:rPr lang="en-US" dirty="0" err="1">
                <a:sym typeface="Roboto"/>
              </a:rPr>
              <a:t>Shaxmat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bo'yicha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jahon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chempioni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Garri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Kasparovni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mag'lub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etdi</a:t>
            </a:r>
            <a:endParaRPr dirty="0">
              <a:sym typeface="Roboto"/>
            </a:endParaRPr>
          </a:p>
        </p:txBody>
      </p:sp>
      <p:sp>
        <p:nvSpPr>
          <p:cNvPr id="22" name="Google Shape;84;p15">
            <a:extLst>
              <a:ext uri="{FF2B5EF4-FFF2-40B4-BE49-F238E27FC236}">
                <a16:creationId xmlns:a16="http://schemas.microsoft.com/office/drawing/2014/main" id="{24B86C68-9407-032A-E39D-2E7EBD7E7C57}"/>
              </a:ext>
            </a:extLst>
          </p:cNvPr>
          <p:cNvSpPr txBox="1"/>
          <p:nvPr/>
        </p:nvSpPr>
        <p:spPr>
          <a:xfrm>
            <a:off x="4799434" y="4242763"/>
            <a:ext cx="2443347" cy="319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uz-Latn-UZ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Deep Blue</a:t>
            </a:r>
            <a:r>
              <a:rPr lang="en-US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 SK, 1997</a:t>
            </a:r>
            <a:endParaRPr sz="2200" dirty="0">
              <a:solidFill>
                <a:srgbClr val="434343"/>
              </a:solidFill>
              <a:latin typeface="Bahnschrift SemiBold Condensed" panose="020B0502040204020203" pitchFamily="34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3" name="Google Shape;83;p15">
            <a:extLst>
              <a:ext uri="{FF2B5EF4-FFF2-40B4-BE49-F238E27FC236}">
                <a16:creationId xmlns:a16="http://schemas.microsoft.com/office/drawing/2014/main" id="{9624359B-2A66-2621-A13E-76C48F901B54}"/>
              </a:ext>
            </a:extLst>
          </p:cNvPr>
          <p:cNvSpPr txBox="1"/>
          <p:nvPr/>
        </p:nvSpPr>
        <p:spPr>
          <a:xfrm>
            <a:off x="4799434" y="5362843"/>
            <a:ext cx="2443347" cy="880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>
              <a:defRPr lang="ru-RU"/>
            </a:defPPr>
            <a:lvl1pPr>
              <a:defRPr sz="120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</a:defRPr>
            </a:lvl1pPr>
          </a:lstStyle>
          <a:p>
            <a:r>
              <a:rPr lang="en-US" dirty="0" err="1">
                <a:sym typeface="Roboto"/>
              </a:rPr>
              <a:t>Sun'iy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intellektning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rivojlanishi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mashina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o'rganish</a:t>
            </a:r>
            <a:r>
              <a:rPr lang="en-US" dirty="0">
                <a:sym typeface="Roboto"/>
              </a:rPr>
              <a:t> (</a:t>
            </a:r>
            <a:r>
              <a:rPr lang="en-US" i="1" dirty="0">
                <a:sym typeface="Roboto"/>
              </a:rPr>
              <a:t>machine learning</a:t>
            </a:r>
            <a:r>
              <a:rPr lang="en-US" dirty="0">
                <a:sym typeface="Roboto"/>
              </a:rPr>
              <a:t>) </a:t>
            </a:r>
            <a:r>
              <a:rPr lang="en-US" dirty="0" err="1">
                <a:sym typeface="Roboto"/>
              </a:rPr>
              <a:t>va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chuqur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o'rganish</a:t>
            </a:r>
            <a:r>
              <a:rPr lang="en-US" dirty="0">
                <a:sym typeface="Roboto"/>
              </a:rPr>
              <a:t> (</a:t>
            </a:r>
            <a:r>
              <a:rPr lang="en-US" i="1" dirty="0">
                <a:sym typeface="Roboto"/>
              </a:rPr>
              <a:t>deep learning)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kabi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yo'nalishlar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orqali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tezlashdi</a:t>
            </a:r>
            <a:r>
              <a:rPr lang="en-US" dirty="0">
                <a:sym typeface="Roboto"/>
              </a:rPr>
              <a:t>. Google, Amazon, Microsoft</a:t>
            </a:r>
            <a:endParaRPr dirty="0">
              <a:sym typeface="Roboto"/>
            </a:endParaRPr>
          </a:p>
        </p:txBody>
      </p:sp>
      <p:sp>
        <p:nvSpPr>
          <p:cNvPr id="24" name="Google Shape;84;p15">
            <a:extLst>
              <a:ext uri="{FF2B5EF4-FFF2-40B4-BE49-F238E27FC236}">
                <a16:creationId xmlns:a16="http://schemas.microsoft.com/office/drawing/2014/main" id="{25818A10-7914-09D0-404A-568F18438889}"/>
              </a:ext>
            </a:extLst>
          </p:cNvPr>
          <p:cNvSpPr txBox="1"/>
          <p:nvPr/>
        </p:nvSpPr>
        <p:spPr>
          <a:xfrm>
            <a:off x="4799434" y="5172690"/>
            <a:ext cx="2443347" cy="319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-US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ML </a:t>
            </a:r>
            <a:r>
              <a:rPr lang="en-US" sz="2200" dirty="0" err="1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va</a:t>
            </a:r>
            <a:r>
              <a:rPr lang="en-US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 DL, 2000</a:t>
            </a:r>
            <a:endParaRPr sz="2200" dirty="0">
              <a:solidFill>
                <a:srgbClr val="434343"/>
              </a:solidFill>
              <a:latin typeface="Bahnschrift SemiBold Condensed" panose="020B0502040204020203" pitchFamily="34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" name="Google Shape;62;p15">
            <a:extLst>
              <a:ext uri="{FF2B5EF4-FFF2-40B4-BE49-F238E27FC236}">
                <a16:creationId xmlns:a16="http://schemas.microsoft.com/office/drawing/2014/main" id="{E724ABD1-6503-30BA-23DD-59E446E5EC07}"/>
              </a:ext>
            </a:extLst>
          </p:cNvPr>
          <p:cNvSpPr txBox="1"/>
          <p:nvPr/>
        </p:nvSpPr>
        <p:spPr>
          <a:xfrm>
            <a:off x="7167113" y="2281657"/>
            <a:ext cx="1741200" cy="298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uz-Latn-UZ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AlphaGo</a:t>
            </a:r>
            <a:r>
              <a:rPr lang="en-US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, 2016</a:t>
            </a:r>
            <a:endParaRPr sz="2200" dirty="0">
              <a:solidFill>
                <a:srgbClr val="434343"/>
              </a:solidFill>
              <a:latin typeface="Bahnschrift SemiBold Condensed" panose="020B0502040204020203" pitchFamily="34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" name="Google Shape;83;p15">
            <a:extLst>
              <a:ext uri="{FF2B5EF4-FFF2-40B4-BE49-F238E27FC236}">
                <a16:creationId xmlns:a16="http://schemas.microsoft.com/office/drawing/2014/main" id="{B5EB9D9D-4BAE-1E18-3768-E8C28DF0BB25}"/>
              </a:ext>
            </a:extLst>
          </p:cNvPr>
          <p:cNvSpPr txBox="1"/>
          <p:nvPr/>
        </p:nvSpPr>
        <p:spPr>
          <a:xfrm>
            <a:off x="6747255" y="2468237"/>
            <a:ext cx="2161058" cy="48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t-IT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Go o'yinida jahon chempioni Li Sedolni mag’lub etildi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Bahnschrift Light Condensed" panose="020B0502040204020203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62;p15">
            <a:extLst>
              <a:ext uri="{FF2B5EF4-FFF2-40B4-BE49-F238E27FC236}">
                <a16:creationId xmlns:a16="http://schemas.microsoft.com/office/drawing/2014/main" id="{B88F319F-3CD7-E77C-11CE-6EA0A11CCD7E}"/>
              </a:ext>
            </a:extLst>
          </p:cNvPr>
          <p:cNvSpPr txBox="1"/>
          <p:nvPr/>
        </p:nvSpPr>
        <p:spPr>
          <a:xfrm>
            <a:off x="7187360" y="1328878"/>
            <a:ext cx="1741200" cy="23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uz-Latn-UZ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ImageNet</a:t>
            </a:r>
            <a:r>
              <a:rPr lang="en-US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, 2012</a:t>
            </a:r>
            <a:endParaRPr sz="2200" dirty="0">
              <a:solidFill>
                <a:srgbClr val="434343"/>
              </a:solidFill>
              <a:latin typeface="Bahnschrift SemiBold Condensed" panose="020B0502040204020203" pitchFamily="34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8" name="Google Shape;83;p15">
            <a:extLst>
              <a:ext uri="{FF2B5EF4-FFF2-40B4-BE49-F238E27FC236}">
                <a16:creationId xmlns:a16="http://schemas.microsoft.com/office/drawing/2014/main" id="{80A46A94-6848-1C30-E534-32760C7C4FC5}"/>
              </a:ext>
            </a:extLst>
          </p:cNvPr>
          <p:cNvSpPr txBox="1"/>
          <p:nvPr/>
        </p:nvSpPr>
        <p:spPr>
          <a:xfrm>
            <a:off x="6635669" y="1556466"/>
            <a:ext cx="2292890" cy="53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Neyron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tarmoqlar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yordamida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tasvirni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tanish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tizimlari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sohasida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inqilob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  <a:sym typeface="Roboto"/>
              </a:rPr>
              <a:t>qilishdi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Bahnschrift Light Condensed" panose="020B0502040204020203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29" name="Google Shape;83;p15">
            <a:extLst>
              <a:ext uri="{FF2B5EF4-FFF2-40B4-BE49-F238E27FC236}">
                <a16:creationId xmlns:a16="http://schemas.microsoft.com/office/drawing/2014/main" id="{301548D7-214B-AB85-B9BC-A08CB06556B4}"/>
              </a:ext>
            </a:extLst>
          </p:cNvPr>
          <p:cNvSpPr txBox="1"/>
          <p:nvPr/>
        </p:nvSpPr>
        <p:spPr>
          <a:xfrm>
            <a:off x="7961659" y="4496865"/>
            <a:ext cx="2443347" cy="90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>
              <a:defRPr lang="ru-RU"/>
            </a:defPPr>
            <a:lvl1pPr>
              <a:defRPr sz="120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</a:defRPr>
            </a:lvl1pPr>
          </a:lstStyle>
          <a:p>
            <a:r>
              <a:rPr lang="en-US" dirty="0">
                <a:sym typeface="Roboto"/>
              </a:rPr>
              <a:t>GPT-3 (Generative Pretrained Transformer) </a:t>
            </a:r>
            <a:r>
              <a:rPr lang="en-US" dirty="0" err="1">
                <a:sym typeface="Roboto"/>
              </a:rPr>
              <a:t>modeli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sun'iy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intellektning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inson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tilini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tushunish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va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ishlab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chiqarish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qobiliyatiga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ega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bo’ldi</a:t>
            </a:r>
            <a:endParaRPr dirty="0">
              <a:sym typeface="Roboto"/>
            </a:endParaRPr>
          </a:p>
        </p:txBody>
      </p:sp>
      <p:sp>
        <p:nvSpPr>
          <p:cNvPr id="30" name="Google Shape;84;p15">
            <a:extLst>
              <a:ext uri="{FF2B5EF4-FFF2-40B4-BE49-F238E27FC236}">
                <a16:creationId xmlns:a16="http://schemas.microsoft.com/office/drawing/2014/main" id="{EAE539CA-A6E5-A8F5-8AAC-37D5687250FD}"/>
              </a:ext>
            </a:extLst>
          </p:cNvPr>
          <p:cNvSpPr txBox="1"/>
          <p:nvPr/>
        </p:nvSpPr>
        <p:spPr>
          <a:xfrm>
            <a:off x="7961659" y="4251119"/>
            <a:ext cx="2443347" cy="319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-US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GPT, 2020</a:t>
            </a:r>
            <a:endParaRPr sz="2200" dirty="0">
              <a:solidFill>
                <a:srgbClr val="434343"/>
              </a:solidFill>
              <a:latin typeface="Bahnschrift SemiBold Condensed" panose="020B0502040204020203" pitchFamily="34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1" name="Google Shape;83;p15">
            <a:extLst>
              <a:ext uri="{FF2B5EF4-FFF2-40B4-BE49-F238E27FC236}">
                <a16:creationId xmlns:a16="http://schemas.microsoft.com/office/drawing/2014/main" id="{93B9D0F7-9F92-AD02-6063-A013B47C1A12}"/>
              </a:ext>
            </a:extLst>
          </p:cNvPr>
          <p:cNvSpPr txBox="1"/>
          <p:nvPr/>
        </p:nvSpPr>
        <p:spPr>
          <a:xfrm>
            <a:off x="7961659" y="5621669"/>
            <a:ext cx="2443347" cy="7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>
              <a:defRPr lang="ru-RU"/>
            </a:defPPr>
            <a:lvl1pPr>
              <a:defRPr sz="1200">
                <a:solidFill>
                  <a:schemeClr val="bg1">
                    <a:lumMod val="50000"/>
                  </a:schemeClr>
                </a:solidFill>
                <a:latin typeface="Bahnschrift Light Condensed" panose="020B0502040204020203" pitchFamily="34" charset="0"/>
                <a:ea typeface="Roboto"/>
                <a:cs typeface="Roboto"/>
              </a:defRPr>
            </a:lvl1pPr>
          </a:lstStyle>
          <a:p>
            <a:r>
              <a:rPr lang="en-US" dirty="0">
                <a:sym typeface="Roboto"/>
              </a:rPr>
              <a:t>(Natural Language Processing, NLP) - </a:t>
            </a:r>
            <a:r>
              <a:rPr lang="en-US" dirty="0" err="1">
                <a:sym typeface="Roboto"/>
              </a:rPr>
              <a:t>tabiiy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tilni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qayta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ishlash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va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va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boshqa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sohalarda</a:t>
            </a:r>
            <a:r>
              <a:rPr lang="en-US" dirty="0">
                <a:sym typeface="Roboto"/>
              </a:rPr>
              <a:t> AI </a:t>
            </a:r>
            <a:r>
              <a:rPr lang="en-US" dirty="0" err="1">
                <a:sym typeface="Roboto"/>
              </a:rPr>
              <a:t>ning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keng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qo'llanishini</a:t>
            </a:r>
            <a:r>
              <a:rPr lang="en-US" dirty="0">
                <a:sym typeface="Roboto"/>
              </a:rPr>
              <a:t> </a:t>
            </a:r>
            <a:r>
              <a:rPr lang="en-US" dirty="0" err="1">
                <a:sym typeface="Roboto"/>
              </a:rPr>
              <a:t>oshirdi</a:t>
            </a:r>
            <a:r>
              <a:rPr lang="en-US" dirty="0">
                <a:sym typeface="Roboto"/>
              </a:rPr>
              <a:t>.</a:t>
            </a:r>
            <a:endParaRPr dirty="0">
              <a:sym typeface="Roboto"/>
            </a:endParaRPr>
          </a:p>
        </p:txBody>
      </p:sp>
      <p:sp>
        <p:nvSpPr>
          <p:cNvPr id="32" name="Google Shape;84;p15">
            <a:extLst>
              <a:ext uri="{FF2B5EF4-FFF2-40B4-BE49-F238E27FC236}">
                <a16:creationId xmlns:a16="http://schemas.microsoft.com/office/drawing/2014/main" id="{BC76A14E-7D38-ED3E-C0B3-145F665F1E85}"/>
              </a:ext>
            </a:extLst>
          </p:cNvPr>
          <p:cNvSpPr txBox="1"/>
          <p:nvPr/>
        </p:nvSpPr>
        <p:spPr>
          <a:xfrm>
            <a:off x="7961659" y="5431516"/>
            <a:ext cx="2443347" cy="319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-US" sz="2200" dirty="0">
                <a:solidFill>
                  <a:srgbClr val="434343"/>
                </a:solidFill>
                <a:latin typeface="Bahnschrift SemiBold Condensed" panose="020B0502040204020203" pitchFamily="34" charset="0"/>
                <a:ea typeface="Fira Sans Extra Condensed Medium"/>
                <a:cs typeface="Fira Sans Extra Condensed Medium"/>
                <a:sym typeface="Fira Sans Extra Condensed Medium"/>
              </a:rPr>
              <a:t>NLP, 2000</a:t>
            </a:r>
            <a:endParaRPr sz="2200" dirty="0">
              <a:solidFill>
                <a:srgbClr val="434343"/>
              </a:solidFill>
              <a:latin typeface="Bahnschrift SemiBold Condensed" panose="020B0502040204020203" pitchFamily="34" charset="0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5E64D5A-0281-4C68-B39F-9541989E5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2FF57-4AC9-16C6-F999-C4FD854CD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5616575" cy="493289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30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Sun’iy</a:t>
            </a:r>
            <a:r>
              <a:rPr lang="en-US" sz="30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30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intellekt</a:t>
            </a:r>
            <a:r>
              <a:rPr lang="en-US" sz="30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(AI)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69A8E91-0028-41F1-AD09-55C3F5999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0999E2-DBA5-45C2-9FA5-8925EF80D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7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7CBB2C7-C4A2-4DDF-8B0F-AAA41053F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B975759-4997-F5BD-BFC1-7F1E5DDD2AD0}"/>
              </a:ext>
            </a:extLst>
          </p:cNvPr>
          <p:cNvSpPr txBox="1">
            <a:spLocks/>
          </p:cNvSpPr>
          <p:nvPr/>
        </p:nvSpPr>
        <p:spPr>
          <a:xfrm>
            <a:off x="479425" y="3429000"/>
            <a:ext cx="5616575" cy="493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Mashina</a:t>
            </a:r>
            <a:r>
              <a:rPr lang="en-US" sz="4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o’rganish</a:t>
            </a:r>
            <a:r>
              <a:rPr lang="en-US" sz="4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(ML)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C52C50-BA95-98A0-B552-70A419B45D23}"/>
              </a:ext>
            </a:extLst>
          </p:cNvPr>
          <p:cNvSpPr txBox="1">
            <a:spLocks/>
          </p:cNvSpPr>
          <p:nvPr/>
        </p:nvSpPr>
        <p:spPr>
          <a:xfrm>
            <a:off x="6096000" y="476250"/>
            <a:ext cx="5533671" cy="4932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Neyron</a:t>
            </a:r>
            <a:r>
              <a:rPr lang="en-US" sz="32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tarmoqlar</a:t>
            </a:r>
            <a:r>
              <a:rPr lang="en-US" sz="32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(NN)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3A453EF-086D-3972-F267-7DCB41CF42A9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5533671" cy="493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Chuqur</a:t>
            </a:r>
            <a:r>
              <a:rPr lang="en-US" sz="4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o’rganish</a:t>
            </a:r>
            <a:r>
              <a:rPr lang="en-US" sz="4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(DL)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ED714982-9D91-3F3A-FC45-21574039FF5C}"/>
              </a:ext>
            </a:extLst>
          </p:cNvPr>
          <p:cNvSpPr txBox="1">
            <a:spLocks/>
          </p:cNvSpPr>
          <p:nvPr/>
        </p:nvSpPr>
        <p:spPr>
          <a:xfrm>
            <a:off x="479425" y="969539"/>
            <a:ext cx="5616574" cy="20204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Sun’iy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intellekt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- </a:t>
            </a: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bu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umumiy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tushuncha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.</a:t>
            </a:r>
            <a:r>
              <a:rPr lang="en-US" sz="1400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inson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aqliy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qobiliyatlarini</a:t>
            </a:r>
            <a:r>
              <a:rPr lang="en-US" sz="1400" dirty="0">
                <a:latin typeface="Bahnschrift Light Condensed" panose="020B0502040204020203" pitchFamily="34" charset="0"/>
              </a:rPr>
              <a:t> taqlid </a:t>
            </a:r>
            <a:r>
              <a:rPr lang="en-US" sz="1400" dirty="0" err="1">
                <a:latin typeface="Bahnschrift Light Condensed" panose="020B0502040204020203" pitchFamily="34" charset="0"/>
              </a:rPr>
              <a:t>qiluvchi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texnologiyalar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yig'indisi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hisoblanadi</a:t>
            </a:r>
            <a:r>
              <a:rPr lang="en-US" sz="1400" dirty="0">
                <a:latin typeface="Bahnschrift Light Condensed" panose="020B0502040204020203" pitchFamily="34" charset="0"/>
              </a:rPr>
              <a:t>. Bu </a:t>
            </a:r>
            <a:r>
              <a:rPr lang="en-US" sz="1400" dirty="0" err="1">
                <a:latin typeface="Bahnschrift Light Condensed" panose="020B0502040204020203" pitchFamily="34" charset="0"/>
              </a:rPr>
              <a:t>tizimlar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ma'lumotlar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asosida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qarorlar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qabul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qilish</a:t>
            </a:r>
            <a:r>
              <a:rPr lang="en-US" sz="1400" dirty="0">
                <a:latin typeface="Bahnschrift Light Condensed" panose="020B0502040204020203" pitchFamily="34" charset="0"/>
              </a:rPr>
              <a:t>, </a:t>
            </a:r>
            <a:r>
              <a:rPr lang="en-US" sz="1400" dirty="0" err="1">
                <a:latin typeface="Bahnschrift Light Condensed" panose="020B0502040204020203" pitchFamily="34" charset="0"/>
              </a:rPr>
              <a:t>muammolarni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hal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qilish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va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o'rganish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qobiliyatiga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ega</a:t>
            </a:r>
            <a:r>
              <a:rPr lang="en-US" sz="1400" dirty="0">
                <a:latin typeface="Bahnschrift Light Condensed" panose="020B0502040204020203" pitchFamily="34" charset="0"/>
              </a:rPr>
              <a:t>. AI </a:t>
            </a:r>
            <a:r>
              <a:rPr lang="en-US" sz="1400" dirty="0" err="1">
                <a:latin typeface="Bahnschrift Light Condensed" panose="020B0502040204020203" pitchFamily="34" charset="0"/>
              </a:rPr>
              <a:t>keng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tushuncha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bo'lib</a:t>
            </a:r>
            <a:r>
              <a:rPr lang="en-US" sz="1400" dirty="0">
                <a:latin typeface="Bahnschrift Light Condensed" panose="020B0502040204020203" pitchFamily="34" charset="0"/>
              </a:rPr>
              <a:t>, u </a:t>
            </a:r>
            <a:r>
              <a:rPr lang="en-US" sz="1400" dirty="0" err="1">
                <a:latin typeface="Bahnschrift Light Condensed" panose="020B0502040204020203" pitchFamily="34" charset="0"/>
              </a:rPr>
              <a:t>odamlar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bajaradigan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turli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faoliyatlarni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avtomatlashtirish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uchun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yaratilgan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turli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algoritmlarni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qamrab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oladi</a:t>
            </a:r>
            <a:r>
              <a:rPr lang="en-US" sz="1400" dirty="0">
                <a:latin typeface="Bahnschrift Light Condensed" panose="020B0502040204020203" pitchFamily="34" charset="0"/>
              </a:rPr>
              <a:t>.</a:t>
            </a:r>
            <a:endParaRPr lang="ru-RU" sz="1400" dirty="0">
              <a:latin typeface="Bahnschrift Light Condensed" panose="020B0502040204020203" pitchFamily="34" charset="0"/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0A7E098F-FA2F-2FF0-6FAD-9DA7987E832C}"/>
              </a:ext>
            </a:extLst>
          </p:cNvPr>
          <p:cNvSpPr txBox="1">
            <a:spLocks/>
          </p:cNvSpPr>
          <p:nvPr/>
        </p:nvSpPr>
        <p:spPr>
          <a:xfrm>
            <a:off x="479425" y="3908684"/>
            <a:ext cx="5616574" cy="19923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AIning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asosiy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bo’limi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. </a:t>
            </a:r>
            <a:r>
              <a:rPr lang="en-US" sz="1400" dirty="0">
                <a:latin typeface="Bahnschrift Light Condensed" panose="020B0502040204020203" pitchFamily="34" charset="0"/>
              </a:rPr>
              <a:t>U </a:t>
            </a:r>
            <a:r>
              <a:rPr lang="en-US" sz="1400" dirty="0" err="1">
                <a:latin typeface="Bahnschrift Light Condensed" panose="020B0502040204020203" pitchFamily="34" charset="0"/>
              </a:rPr>
              <a:t>algoritmlarning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tajribadan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o'rganish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va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ma'lumotlar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asosida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qarorlar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qabul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qilish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qobiliyatini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rivojlantirishga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yo'naltirilgan</a:t>
            </a:r>
            <a:r>
              <a:rPr lang="en-US" sz="1400" dirty="0">
                <a:latin typeface="Bahnschrift Light Condensed" panose="020B0502040204020203" pitchFamily="34" charset="0"/>
              </a:rPr>
              <a:t>. </a:t>
            </a:r>
            <a:r>
              <a:rPr lang="en-US" sz="1400" dirty="0" err="1">
                <a:latin typeface="Bahnschrift Light Condensed" panose="020B0502040204020203" pitchFamily="34" charset="0"/>
              </a:rPr>
              <a:t>An'anaviy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dasturlashdan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farqli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ravishda</a:t>
            </a:r>
            <a:r>
              <a:rPr lang="en-US" sz="1400" dirty="0">
                <a:latin typeface="Bahnschrift Light Condensed" panose="020B0502040204020203" pitchFamily="34" charset="0"/>
              </a:rPr>
              <a:t>, </a:t>
            </a:r>
            <a:r>
              <a:rPr lang="en-US" sz="1400" dirty="0" err="1">
                <a:latin typeface="Bahnschrift Light Condensed" panose="020B0502040204020203" pitchFamily="34" charset="0"/>
              </a:rPr>
              <a:t>mashina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o'rganish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tizimlari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oldindan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dasturlangan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qoidalarga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asoslanmaydi</a:t>
            </a:r>
            <a:r>
              <a:rPr lang="en-US" sz="1400" dirty="0">
                <a:latin typeface="Bahnschrift Light Condensed" panose="020B0502040204020203" pitchFamily="34" charset="0"/>
              </a:rPr>
              <a:t>, </a:t>
            </a:r>
            <a:r>
              <a:rPr lang="en-US" sz="1400" dirty="0" err="1">
                <a:latin typeface="Bahnschrift Light Condensed" panose="020B0502040204020203" pitchFamily="34" charset="0"/>
              </a:rPr>
              <a:t>balki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ma'lumotlar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orqali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o'zi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o'rganadi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va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xulosalar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chiqaradi</a:t>
            </a:r>
            <a:r>
              <a:rPr lang="en-US" sz="1400" dirty="0">
                <a:latin typeface="Bahnschrift Light Condensed" panose="020B0502040204020203" pitchFamily="34" charset="0"/>
              </a:rPr>
              <a:t>.</a:t>
            </a:r>
            <a:endParaRPr lang="ru-RU" sz="1400" dirty="0">
              <a:latin typeface="Bahnschrift Light Condensed" panose="020B0502040204020203" pitchFamily="34" charset="0"/>
            </a:endParaRP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EAA8ABC7-E66E-2A17-8D06-95A640CB13C5}"/>
              </a:ext>
            </a:extLst>
          </p:cNvPr>
          <p:cNvSpPr txBox="1">
            <a:spLocks/>
          </p:cNvSpPr>
          <p:nvPr/>
        </p:nvSpPr>
        <p:spPr>
          <a:xfrm>
            <a:off x="6096000" y="969540"/>
            <a:ext cx="5545138" cy="20204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Mashina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o’rganishning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algoritmlaridan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biri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. </a:t>
            </a:r>
            <a:r>
              <a:rPr lang="en-US" sz="1400" b="1" dirty="0" err="1">
                <a:latin typeface="Bahnschrift Light Condensed" panose="020B0502040204020203" pitchFamily="34" charset="0"/>
              </a:rPr>
              <a:t>S</a:t>
            </a:r>
            <a:r>
              <a:rPr lang="en-US" sz="1400" dirty="0" err="1">
                <a:latin typeface="Bahnschrift Light Condensed" panose="020B0502040204020203" pitchFamily="34" charset="0"/>
              </a:rPr>
              <a:t>un'iy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neyronlar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tarmog'iga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asoslangan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algoritmlar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bo'lib</a:t>
            </a:r>
            <a:r>
              <a:rPr lang="en-US" sz="1400" dirty="0">
                <a:latin typeface="Bahnschrift Light Condensed" panose="020B0502040204020203" pitchFamily="34" charset="0"/>
              </a:rPr>
              <a:t>, </a:t>
            </a:r>
            <a:r>
              <a:rPr lang="en-US" sz="1400" dirty="0" err="1">
                <a:latin typeface="Bahnschrift Light Condensed" panose="020B0502040204020203" pitchFamily="34" charset="0"/>
              </a:rPr>
              <a:t>ular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inson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miyasi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faoliyatini</a:t>
            </a:r>
            <a:r>
              <a:rPr lang="en-US" sz="1400" dirty="0">
                <a:latin typeface="Bahnschrift Light Condensed" panose="020B0502040204020203" pitchFamily="34" charset="0"/>
              </a:rPr>
              <a:t> taqlid </a:t>
            </a:r>
            <a:r>
              <a:rPr lang="en-US" sz="1400" dirty="0" err="1">
                <a:latin typeface="Bahnschrift Light Condensed" panose="020B0502040204020203" pitchFamily="34" charset="0"/>
              </a:rPr>
              <a:t>qiladi</a:t>
            </a:r>
            <a:r>
              <a:rPr lang="en-US" sz="1400" dirty="0">
                <a:latin typeface="Bahnschrift Light Condensed" panose="020B0502040204020203" pitchFamily="34" charset="0"/>
              </a:rPr>
              <a:t>. Bu </a:t>
            </a:r>
            <a:r>
              <a:rPr lang="en-US" sz="1400" dirty="0" err="1">
                <a:latin typeface="Bahnschrift Light Condensed" panose="020B0502040204020203" pitchFamily="34" charset="0"/>
              </a:rPr>
              <a:t>tarmoqlar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bir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qator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kirish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ma'lumotlarini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qabul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qiladi</a:t>
            </a:r>
            <a:r>
              <a:rPr lang="en-US" sz="1400" dirty="0">
                <a:latin typeface="Bahnschrift Light Condensed" panose="020B0502040204020203" pitchFamily="34" charset="0"/>
              </a:rPr>
              <a:t>, </a:t>
            </a:r>
            <a:r>
              <a:rPr lang="en-US" sz="1400" dirty="0" err="1">
                <a:latin typeface="Bahnschrift Light Condensed" panose="020B0502040204020203" pitchFamily="34" charset="0"/>
              </a:rPr>
              <a:t>ma'lumotlarni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ko'p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qavatli</a:t>
            </a:r>
            <a:r>
              <a:rPr lang="en-US" sz="1400" dirty="0">
                <a:latin typeface="Bahnschrift Light Condensed" panose="020B0502040204020203" pitchFamily="34" charset="0"/>
              </a:rPr>
              <a:t> (layered) </a:t>
            </a:r>
            <a:r>
              <a:rPr lang="en-US" sz="1400" dirty="0" err="1">
                <a:latin typeface="Bahnschrift Light Condensed" panose="020B0502040204020203" pitchFamily="34" charset="0"/>
              </a:rPr>
              <a:t>tarzda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qayta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ishlaydi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va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chiqishni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ishlab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chiqaradi</a:t>
            </a:r>
            <a:r>
              <a:rPr lang="en-US" sz="1400" dirty="0">
                <a:latin typeface="Bahnschrift Light Condensed" panose="020B0502040204020203" pitchFamily="34" charset="0"/>
              </a:rPr>
              <a:t>. Har </a:t>
            </a:r>
            <a:r>
              <a:rPr lang="en-US" sz="1400" dirty="0" err="1">
                <a:latin typeface="Bahnschrift Light Condensed" panose="020B0502040204020203" pitchFamily="34" charset="0"/>
              </a:rPr>
              <a:t>bir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qavatdagi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neyronlar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keyingi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qavatdagi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neyronlarga</a:t>
            </a:r>
            <a:r>
              <a:rPr lang="en-US" sz="1400" dirty="0">
                <a:latin typeface="Bahnschrift Light Condensed" panose="020B0502040204020203" pitchFamily="34" charset="0"/>
              </a:rPr>
              <a:t> signal </a:t>
            </a:r>
            <a:r>
              <a:rPr lang="en-US" sz="1400" dirty="0" err="1">
                <a:latin typeface="Bahnschrift Light Condensed" panose="020B0502040204020203" pitchFamily="34" charset="0"/>
              </a:rPr>
              <a:t>uzatadi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va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o'rganish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jarayonida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vaznlar</a:t>
            </a:r>
            <a:r>
              <a:rPr lang="en-US" sz="1400" dirty="0">
                <a:latin typeface="Bahnschrift Light Condensed" panose="020B0502040204020203" pitchFamily="34" charset="0"/>
              </a:rPr>
              <a:t> (weights) </a:t>
            </a:r>
            <a:r>
              <a:rPr lang="en-US" sz="1400" dirty="0" err="1">
                <a:latin typeface="Bahnschrift Light Condensed" panose="020B0502040204020203" pitchFamily="34" charset="0"/>
              </a:rPr>
              <a:t>yangilanadi</a:t>
            </a:r>
            <a:r>
              <a:rPr lang="en-US" sz="1400" dirty="0">
                <a:latin typeface="Bahnschrift Light Condensed" panose="020B0502040204020203" pitchFamily="34" charset="0"/>
              </a:rPr>
              <a:t>.</a:t>
            </a:r>
            <a:endParaRPr lang="ru-RU" sz="1400" dirty="0">
              <a:latin typeface="Bahnschrift Light Condensed" panose="020B0502040204020203" pitchFamily="34" charset="0"/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20589D9B-5009-6289-3B42-9F0AC4B0DF6B}"/>
              </a:ext>
            </a:extLst>
          </p:cNvPr>
          <p:cNvSpPr txBox="1">
            <a:spLocks/>
          </p:cNvSpPr>
          <p:nvPr/>
        </p:nvSpPr>
        <p:spPr>
          <a:xfrm>
            <a:off x="6096000" y="3908683"/>
            <a:ext cx="5533671" cy="19923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Neyron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tarmoqlarni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ko'p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qavatli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ishlatadigan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o'rganish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turi</a:t>
            </a:r>
            <a:r>
              <a:rPr lang="en-US" sz="14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. </a:t>
            </a:r>
            <a:r>
              <a:rPr lang="en-US" sz="1400" dirty="0">
                <a:latin typeface="Bahnschrift Light Condensed" panose="020B0502040204020203" pitchFamily="34" charset="0"/>
              </a:rPr>
              <a:t>Bu </a:t>
            </a:r>
            <a:r>
              <a:rPr lang="en-US" sz="1400" dirty="0" err="1">
                <a:latin typeface="Bahnschrift Light Condensed" panose="020B0502040204020203" pitchFamily="34" charset="0"/>
              </a:rPr>
              <a:t>mashina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o'rganishning</a:t>
            </a:r>
            <a:r>
              <a:rPr lang="en-US" sz="1400" dirty="0">
                <a:latin typeface="Bahnschrift Light Condensed" panose="020B0502040204020203" pitchFamily="34" charset="0"/>
              </a:rPr>
              <a:t> past </a:t>
            </a:r>
            <a:r>
              <a:rPr lang="en-US" sz="1400" dirty="0" err="1">
                <a:latin typeface="Bahnschrift Light Condensed" panose="020B0502040204020203" pitchFamily="34" charset="0"/>
              </a:rPr>
              <a:t>darajadagi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ko'p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qavatli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neyron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tarmoqlarni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ishlatadigan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turi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bo'lib</a:t>
            </a:r>
            <a:r>
              <a:rPr lang="en-US" sz="1400" dirty="0">
                <a:latin typeface="Bahnschrift Light Condensed" panose="020B0502040204020203" pitchFamily="34" charset="0"/>
              </a:rPr>
              <a:t>, </a:t>
            </a:r>
            <a:r>
              <a:rPr lang="en-US" sz="1400" dirty="0" err="1">
                <a:latin typeface="Bahnschrift Light Condensed" panose="020B0502040204020203" pitchFamily="34" charset="0"/>
              </a:rPr>
              <a:t>uning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asosiy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vazifasi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juda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murakkab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ma'lumotlar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to'plamlarida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xususiyatlarni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avtomatik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tarzda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o'rganishdir</a:t>
            </a:r>
            <a:r>
              <a:rPr lang="en-US" sz="1400" dirty="0">
                <a:latin typeface="Bahnschrift Light Condensed" panose="020B0502040204020203" pitchFamily="34" charset="0"/>
              </a:rPr>
              <a:t>. </a:t>
            </a:r>
            <a:r>
              <a:rPr lang="en-US" sz="1400" dirty="0" err="1">
                <a:latin typeface="Bahnschrift Light Condensed" panose="020B0502040204020203" pitchFamily="34" charset="0"/>
              </a:rPr>
              <a:t>Neyron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tarmoqlar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qanchalik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chuqur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bo'lsa</a:t>
            </a:r>
            <a:r>
              <a:rPr lang="en-US" sz="1400" dirty="0">
                <a:latin typeface="Bahnschrift Light Condensed" panose="020B0502040204020203" pitchFamily="34" charset="0"/>
              </a:rPr>
              <a:t>, </a:t>
            </a:r>
            <a:r>
              <a:rPr lang="en-US" sz="1400" dirty="0" err="1">
                <a:latin typeface="Bahnschrift Light Condensed" panose="020B0502040204020203" pitchFamily="34" charset="0"/>
              </a:rPr>
              <a:t>shunchalik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ko'p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qavatlarni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ishlatadi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va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bu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qavatlar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o'rganish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jarayonida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ma'lumotlardan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ko'proq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murakkab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xususiyatlarni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ajratib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olishga</a:t>
            </a:r>
            <a:r>
              <a:rPr lang="en-US" sz="1400" dirty="0">
                <a:latin typeface="Bahnschrift Light Condensed" panose="020B0502040204020203" pitchFamily="34" charset="0"/>
              </a:rPr>
              <a:t> </a:t>
            </a:r>
            <a:r>
              <a:rPr lang="en-US" sz="1400" dirty="0" err="1">
                <a:latin typeface="Bahnschrift Light Condensed" panose="020B0502040204020203" pitchFamily="34" charset="0"/>
              </a:rPr>
              <a:t>qodir</a:t>
            </a:r>
            <a:r>
              <a:rPr lang="en-US" sz="1400" dirty="0">
                <a:latin typeface="Bahnschrift Light Condensed" panose="020B0502040204020203" pitchFamily="34" charset="0"/>
              </a:rPr>
              <a:t>.</a:t>
            </a:r>
            <a:endParaRPr lang="ru-RU" sz="1400" dirty="0">
              <a:latin typeface="Bahnschrift Light Condensed" panose="020B050204020402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DD93693-4821-60C7-4D83-FBBC2671A321}"/>
              </a:ext>
            </a:extLst>
          </p:cNvPr>
          <p:cNvSpPr/>
          <p:nvPr/>
        </p:nvSpPr>
        <p:spPr>
          <a:xfrm>
            <a:off x="479424" y="490856"/>
            <a:ext cx="475247" cy="47524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1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69EAED6-998F-DA28-A3A4-3B54D3261CBE}"/>
              </a:ext>
            </a:extLst>
          </p:cNvPr>
          <p:cNvSpPr/>
          <p:nvPr/>
        </p:nvSpPr>
        <p:spPr>
          <a:xfrm>
            <a:off x="479424" y="3440240"/>
            <a:ext cx="475247" cy="47524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2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1FC9B76-F9FF-2BE3-E220-013700982939}"/>
              </a:ext>
            </a:extLst>
          </p:cNvPr>
          <p:cNvSpPr/>
          <p:nvPr/>
        </p:nvSpPr>
        <p:spPr>
          <a:xfrm>
            <a:off x="6100177" y="490856"/>
            <a:ext cx="475247" cy="47524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3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8B255E3-F08C-EA9D-8955-AE1C0A62B40C}"/>
              </a:ext>
            </a:extLst>
          </p:cNvPr>
          <p:cNvSpPr/>
          <p:nvPr/>
        </p:nvSpPr>
        <p:spPr>
          <a:xfrm>
            <a:off x="6100177" y="3440240"/>
            <a:ext cx="475247" cy="47524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4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F92ADE0A-78FF-E0D3-6291-92AF0A3BB52F}"/>
              </a:ext>
            </a:extLst>
          </p:cNvPr>
          <p:cNvSpPr txBox="1">
            <a:spLocks/>
          </p:cNvSpPr>
          <p:nvPr/>
        </p:nvSpPr>
        <p:spPr>
          <a:xfrm>
            <a:off x="482599" y="2687383"/>
            <a:ext cx="5601934" cy="46383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200" b="1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Ierarxiyada</a:t>
            </a:r>
            <a:r>
              <a:rPr lang="en-US" sz="1200" b="1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b="1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joylashuvi</a:t>
            </a:r>
            <a:r>
              <a:rPr lang="en-US" sz="1200" b="1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Sun'iy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intellekt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umumiy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kontseptsiya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bo'lib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,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mashina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o'rganish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,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chuqur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o'rganish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,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va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neyron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tarmoqlar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AI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ning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pastroq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darajadagi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komponentlaridir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.</a:t>
            </a:r>
            <a:endParaRPr lang="ru-RU" sz="1200" dirty="0">
              <a:solidFill>
                <a:srgbClr val="00B0F0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0A26DF24-6F6E-411D-3608-5A19F4395228}"/>
              </a:ext>
            </a:extLst>
          </p:cNvPr>
          <p:cNvSpPr txBox="1">
            <a:spLocks/>
          </p:cNvSpPr>
          <p:nvPr/>
        </p:nvSpPr>
        <p:spPr>
          <a:xfrm>
            <a:off x="6096000" y="2687383"/>
            <a:ext cx="5545138" cy="46383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200" b="1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Ierarxiyada</a:t>
            </a:r>
            <a:r>
              <a:rPr lang="en-US" sz="1200" b="1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b="1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joylashuvi</a:t>
            </a:r>
            <a:r>
              <a:rPr lang="en-US" sz="1200" b="1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Neyron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tarmoqlar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mashina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o'rganish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ichidagi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texnologiya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bo'lib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,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chuqur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o'rganish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texnologiyalari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aynan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ko'p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qavatli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neyron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tarmoqlarga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asoslanadi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.</a:t>
            </a:r>
            <a:endParaRPr lang="ru-RU" sz="1200" dirty="0">
              <a:solidFill>
                <a:srgbClr val="00B0F0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24" name="Объект 2">
            <a:extLst>
              <a:ext uri="{FF2B5EF4-FFF2-40B4-BE49-F238E27FC236}">
                <a16:creationId xmlns:a16="http://schemas.microsoft.com/office/drawing/2014/main" id="{3994D5F7-3297-820D-8D50-42A30390127D}"/>
              </a:ext>
            </a:extLst>
          </p:cNvPr>
          <p:cNvSpPr txBox="1">
            <a:spLocks/>
          </p:cNvSpPr>
          <p:nvPr/>
        </p:nvSpPr>
        <p:spPr>
          <a:xfrm>
            <a:off x="482599" y="5887453"/>
            <a:ext cx="5601934" cy="46383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200" b="1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Ierarxiyada</a:t>
            </a:r>
            <a:r>
              <a:rPr lang="en-US" sz="1200" b="1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b="1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joylashuvi</a:t>
            </a:r>
            <a:r>
              <a:rPr lang="en-US" sz="1200" b="1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Mashina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o'rganish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sun'iy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intellektning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bir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qismi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sifatida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sun'iy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intellekt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ichida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joylashgan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,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chuqur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o'rganish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va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neyron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tarmoqlar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esa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mashina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o'rganishning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bir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qismi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hisoblanadi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.</a:t>
            </a:r>
            <a:endParaRPr lang="ru-RU" sz="1200" dirty="0">
              <a:solidFill>
                <a:srgbClr val="00B0F0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F2A2452A-F30F-7745-E256-9B681C729A43}"/>
              </a:ext>
            </a:extLst>
          </p:cNvPr>
          <p:cNvSpPr txBox="1">
            <a:spLocks/>
          </p:cNvSpPr>
          <p:nvPr/>
        </p:nvSpPr>
        <p:spPr>
          <a:xfrm>
            <a:off x="6096000" y="5887453"/>
            <a:ext cx="5545138" cy="46383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200" b="1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Ierarxiyada</a:t>
            </a:r>
            <a:r>
              <a:rPr lang="en-US" sz="1200" b="1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b="1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joylashuvi</a:t>
            </a:r>
            <a:r>
              <a:rPr lang="en-US" sz="1200" b="1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Chuqur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o'rganish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–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mashina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o'rganishning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past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darajasidagi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eng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rivojlangan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turi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bo'lib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,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neyron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tarmoqlarni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chuqurroq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ishlatishga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200" dirty="0" err="1">
                <a:solidFill>
                  <a:srgbClr val="00B0F0"/>
                </a:solidFill>
                <a:latin typeface="Bahnschrift Light Condensed" panose="020B0502040204020203" pitchFamily="34" charset="0"/>
              </a:rPr>
              <a:t>asoslangan</a:t>
            </a:r>
            <a:r>
              <a:rPr lang="en-US" sz="1200" dirty="0">
                <a:solidFill>
                  <a:srgbClr val="00B0F0"/>
                </a:solidFill>
                <a:latin typeface="Bahnschrift Light Condensed" panose="020B0502040204020203" pitchFamily="34" charset="0"/>
              </a:rPr>
              <a:t>.</a:t>
            </a:r>
            <a:endParaRPr lang="ru-RU" sz="1200" dirty="0">
              <a:solidFill>
                <a:srgbClr val="00B0F0"/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7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4EA33-65F4-A710-7D5E-14848FC2F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83343"/>
            <a:ext cx="11147071" cy="828622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28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SUN’IY INTELLEKT TIZIMLARINI YARATISH UCHUN QANDAY DASTURLASH TILLARIDAN FOYDALANILADI?</a:t>
            </a:r>
            <a:endParaRPr lang="ru-RU" sz="28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0BE13636-D998-4A75-8C1B-EDBD9E57D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6672E4D5-7CCB-4D76-86FF-83359027D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F0574063-A495-1446-6D2F-E638B242A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60" y="1687937"/>
            <a:ext cx="2490139" cy="140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5EED0BE0-4B2B-2E93-78AC-1056F353E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124" y="4390481"/>
            <a:ext cx="1481726" cy="148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Picture background">
            <a:extLst>
              <a:ext uri="{FF2B5EF4-FFF2-40B4-BE49-F238E27FC236}">
                <a16:creationId xmlns:a16="http://schemas.microsoft.com/office/drawing/2014/main" id="{0ED6F90A-40ED-7438-4ACF-B0C3ECEED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171" y="1452637"/>
            <a:ext cx="2262259" cy="169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Picture background">
            <a:extLst>
              <a:ext uri="{FF2B5EF4-FFF2-40B4-BE49-F238E27FC236}">
                <a16:creationId xmlns:a16="http://schemas.microsoft.com/office/drawing/2014/main" id="{884F27A0-676D-AABA-6C84-D0B15A3FE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812" y="4390481"/>
            <a:ext cx="1660976" cy="166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6B1745-BC55-7D68-0024-FD8883E487CD}"/>
              </a:ext>
            </a:extLst>
          </p:cNvPr>
          <p:cNvSpPr txBox="1"/>
          <p:nvPr/>
        </p:nvSpPr>
        <p:spPr>
          <a:xfrm>
            <a:off x="3013999" y="1782162"/>
            <a:ext cx="29493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z-Latn-UZ" sz="1400" dirty="0">
                <a:latin typeface="Bahnschrift Light Condensed" panose="020B0502040204020203" pitchFamily="34" charset="0"/>
              </a:rPr>
              <a:t>Python sun'iy intellekt va mashina o'rganish sohasida eng ko'p qo'llaniladigan til hisoblanadi. Bu tilning soddaligi va kuchli kutubxonalari mavjudligi uni tanlashda asosiy omil hisoblanadi.</a:t>
            </a:r>
            <a:endParaRPr lang="ru-RU" sz="1400" dirty="0">
              <a:latin typeface="Bahnschrift Ligh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CE2D3-2526-7304-59C1-048D94C91383}"/>
              </a:ext>
            </a:extLst>
          </p:cNvPr>
          <p:cNvSpPr txBox="1"/>
          <p:nvPr/>
        </p:nvSpPr>
        <p:spPr>
          <a:xfrm>
            <a:off x="3013999" y="4546568"/>
            <a:ext cx="29493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z-Latn-UZ" sz="1400" dirty="0">
                <a:latin typeface="Bahnschrift Light Condensed" panose="020B0502040204020203" pitchFamily="34" charset="0"/>
              </a:rPr>
              <a:t>R dasturlash tili statistik analiz va ma'lumotlarni tahlil qilishga ixtisoslashgan. Sun'iy intellekt loyihalarida, ayniqsa, ma'lumotlar tahlili va statistik modellash uchun foydalaniladi.</a:t>
            </a:r>
            <a:endParaRPr lang="ru-RU" sz="1400" dirty="0">
              <a:latin typeface="Bahnschrift Light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2C1E0D-973F-0A13-6F84-D26C207E2846}"/>
              </a:ext>
            </a:extLst>
          </p:cNvPr>
          <p:cNvSpPr txBox="1"/>
          <p:nvPr/>
        </p:nvSpPr>
        <p:spPr>
          <a:xfrm>
            <a:off x="8453500" y="1782162"/>
            <a:ext cx="29493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z-Latn-UZ" sz="1400" dirty="0">
                <a:latin typeface="Bahnschrift Light Condensed" panose="020B0502040204020203" pitchFamily="34" charset="0"/>
              </a:rPr>
              <a:t>Java sun'iy intellekt va katta hajmdagi korporativ tizimlarni ishlab chiqish uchun keng qo'llaniladi. Java skalabillik va barqarorlikni ta'minlaydi, bu esa katta AI tizimlari uchun foydali bo'ladi.</a:t>
            </a:r>
            <a:endParaRPr lang="ru-RU" sz="1400" dirty="0">
              <a:latin typeface="Bahnschrift Light 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323E4-4DD7-649F-6AE6-BCC2D882D7AB}"/>
              </a:ext>
            </a:extLst>
          </p:cNvPr>
          <p:cNvSpPr txBox="1"/>
          <p:nvPr/>
        </p:nvSpPr>
        <p:spPr>
          <a:xfrm>
            <a:off x="8453500" y="4546568"/>
            <a:ext cx="29493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z-Latn-UZ" sz="1400" dirty="0">
                <a:latin typeface="Bahnschrift Light Condensed" panose="020B0502040204020203" pitchFamily="34" charset="0"/>
              </a:rPr>
              <a:t>C++ yuqori samaradorlikka ega bo'lgan dasturlar va kompyuter grafikasi yoki real vaqt tizimlari bilan ishlashda ishlatiladi. U sun'iy intellektning ba'zi sohalarida, ayniqsa, o'yinlar va robototexnika uchun ishlatiladi.</a:t>
            </a:r>
            <a:endParaRPr lang="ru-RU" sz="14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52160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4EA33-65F4-A710-7D5E-14848FC2F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83343"/>
            <a:ext cx="11147071" cy="828622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28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SUN’IY INTELLEKT TIZIMLARINI YARATISH UCHUN QANDAY DASTURLASH TILLARIDAN FOYDALANILADI?</a:t>
            </a:r>
            <a:endParaRPr lang="ru-RU" sz="28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0BE13636-D998-4A75-8C1B-EDBD9E57D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6672E4D5-7CCB-4D76-86FF-83359027D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46" name="Picture 2">
            <a:extLst>
              <a:ext uri="{FF2B5EF4-FFF2-40B4-BE49-F238E27FC236}">
                <a16:creationId xmlns:a16="http://schemas.microsoft.com/office/drawing/2014/main" id="{F0574063-A495-1446-6D2F-E638B242A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2571" y="1687937"/>
            <a:ext cx="2072716" cy="140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5EED0BE0-4B2B-2E93-78AC-1056F353E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49864" y="4472622"/>
            <a:ext cx="1916279" cy="1317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0ED6F90A-40ED-7438-4ACF-B0C3ECEED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96171" y="1889182"/>
            <a:ext cx="2262259" cy="823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>
            <a:extLst>
              <a:ext uri="{FF2B5EF4-FFF2-40B4-BE49-F238E27FC236}">
                <a16:creationId xmlns:a16="http://schemas.microsoft.com/office/drawing/2014/main" id="{884F27A0-676D-AABA-6C84-D0B15A3FE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418698" y="4620512"/>
            <a:ext cx="2079202" cy="116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6B1745-BC55-7D68-0024-FD8883E487CD}"/>
              </a:ext>
            </a:extLst>
          </p:cNvPr>
          <p:cNvSpPr txBox="1"/>
          <p:nvPr/>
        </p:nvSpPr>
        <p:spPr>
          <a:xfrm>
            <a:off x="3013999" y="1782162"/>
            <a:ext cx="29493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z-Latn-UZ" sz="1400" dirty="0">
                <a:latin typeface="Bahnschrift Light Condensed" panose="020B0502040204020203" pitchFamily="34" charset="0"/>
              </a:rPr>
              <a:t>Julia AI sohasida yangi paydo bo'lgan til bo'lib, uning asosiy afzalligi yuqori tezlik va katta hajmdagi ma'lumotlar bilan ishlashga qobiliyatidir. Bu til ilmiy hisoblash va chuqur o'rganish uchun juda samarali.</a:t>
            </a:r>
            <a:endParaRPr lang="ru-RU" sz="1400" dirty="0">
              <a:latin typeface="Bahnschrift Ligh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CE2D3-2526-7304-59C1-048D94C91383}"/>
              </a:ext>
            </a:extLst>
          </p:cNvPr>
          <p:cNvSpPr txBox="1"/>
          <p:nvPr/>
        </p:nvSpPr>
        <p:spPr>
          <a:xfrm>
            <a:off x="3013999" y="4405068"/>
            <a:ext cx="29493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z-Latn-UZ" sz="1400" dirty="0">
                <a:latin typeface="Bahnschrift Light Condensed" panose="020B0502040204020203" pitchFamily="34" charset="0"/>
              </a:rPr>
              <a:t>Lisp dasturlash tili sun'iy intellektning ilk rivojlanishida muhim rol o'ynagan. Bu til sun'iy intellekt tadqiqotlarining birinchi davrida ishlatilgan bo'lsa-da, hozirda ko'proq o'quv maqsadlari yoki ma'lum sohalardagi ekspert tizimlarda qo'llaniladi.</a:t>
            </a:r>
            <a:endParaRPr lang="ru-RU" sz="1400" dirty="0">
              <a:latin typeface="Bahnschrift Light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2C1E0D-973F-0A13-6F84-D26C207E2846}"/>
              </a:ext>
            </a:extLst>
          </p:cNvPr>
          <p:cNvSpPr txBox="1"/>
          <p:nvPr/>
        </p:nvSpPr>
        <p:spPr>
          <a:xfrm>
            <a:off x="8646490" y="1600131"/>
            <a:ext cx="29493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z-Latn-UZ" sz="1400" dirty="0">
                <a:latin typeface="Bahnschrift Light Condensed" panose="020B0502040204020203" pitchFamily="34" charset="0"/>
              </a:rPr>
              <a:t>Prolog sun'iy intellektning mantikiy dasturlash (logical programming) bo'yicha ishlatiladigan dasturlash tillaridan biri hisoblanadi. U bilim bazalari va mantiqiy qoidalar asosida ishlaydigan tizimlarni ishlab chiqishda ishlatiladi.</a:t>
            </a:r>
            <a:endParaRPr lang="ru-RU" sz="1400" dirty="0">
              <a:latin typeface="Bahnschrift Light 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323E4-4DD7-649F-6AE6-BCC2D882D7AB}"/>
              </a:ext>
            </a:extLst>
          </p:cNvPr>
          <p:cNvSpPr txBox="1"/>
          <p:nvPr/>
        </p:nvSpPr>
        <p:spPr>
          <a:xfrm>
            <a:off x="8646490" y="4658289"/>
            <a:ext cx="29493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z-Latn-UZ" sz="1400" dirty="0">
                <a:latin typeface="Bahnschrift Light Condensed" panose="020B0502040204020203" pitchFamily="34" charset="0"/>
              </a:rPr>
              <a:t>MATLAB ilmiy va texnik hisob-kitoblar uchun keng qo'llaniladi. Sun'iy intellekt sohasida MATLAB ko'pincha algoritmlar prototiplari va matematik modellarni yaratishda ishlatiladi.</a:t>
            </a:r>
            <a:endParaRPr lang="ru-RU" sz="14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47412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4EA33-65F4-A710-7D5E-14848FC2F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557473"/>
            <a:ext cx="11147071" cy="351541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28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HOZIRDA SUN’IY INTELLEKT QAYSI SOHALARDA FOYDALANIB KELINMOQDA? </a:t>
            </a:r>
            <a:endParaRPr lang="ru-RU" sz="28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0BE13636-D998-4A75-8C1B-EDBD9E57D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6672E4D5-7CCB-4D76-86FF-83359027D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0A99088-90C4-E0AE-5918-0540217F2221}"/>
              </a:ext>
            </a:extLst>
          </p:cNvPr>
          <p:cNvSpPr txBox="1">
            <a:spLocks/>
          </p:cNvSpPr>
          <p:nvPr/>
        </p:nvSpPr>
        <p:spPr>
          <a:xfrm>
            <a:off x="565502" y="1138662"/>
            <a:ext cx="3211367" cy="3306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Sog'liqni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saqlash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F065B42-392B-9BB7-FC42-6FCE19BAEF0A}"/>
              </a:ext>
            </a:extLst>
          </p:cNvPr>
          <p:cNvSpPr txBox="1">
            <a:spLocks/>
          </p:cNvSpPr>
          <p:nvPr/>
        </p:nvSpPr>
        <p:spPr>
          <a:xfrm>
            <a:off x="479425" y="1466496"/>
            <a:ext cx="3297444" cy="19625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Tibbiy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tashxis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 err="1">
                <a:latin typeface="Bahnschrift Light Condensed" panose="020B0502040204020203" pitchFamily="34" charset="0"/>
              </a:rPr>
              <a:t>Sun'iy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intellekt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tibbiy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tasvirlarni</a:t>
            </a:r>
            <a:r>
              <a:rPr lang="en-US" sz="1100" dirty="0">
                <a:latin typeface="Bahnschrift Light Condensed" panose="020B0502040204020203" pitchFamily="34" charset="0"/>
              </a:rPr>
              <a:t> (</a:t>
            </a:r>
            <a:r>
              <a:rPr lang="en-US" sz="1100" dirty="0" err="1">
                <a:latin typeface="Bahnschrift Light Condensed" panose="020B0502040204020203" pitchFamily="34" charset="0"/>
              </a:rPr>
              <a:t>rentgen</a:t>
            </a:r>
            <a:r>
              <a:rPr lang="en-US" sz="1100" dirty="0">
                <a:latin typeface="Bahnschrift Light Condensed" panose="020B0502040204020203" pitchFamily="34" charset="0"/>
              </a:rPr>
              <a:t>, MRT, KT) </a:t>
            </a:r>
            <a:r>
              <a:rPr lang="en-US" sz="1100" dirty="0" err="1">
                <a:latin typeface="Bahnschrift Light Condensed" panose="020B0502040204020203" pitchFamily="34" charset="0"/>
              </a:rPr>
              <a:t>tahlil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qilish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orqali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kasalliklarni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aniqlashda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ishlatiladi</a:t>
            </a:r>
            <a:r>
              <a:rPr lang="en-US" sz="1100" dirty="0">
                <a:latin typeface="Bahnschrift Light Condensed" panose="020B0502040204020203" pitchFamily="34" charset="0"/>
              </a:rPr>
              <a:t>. </a:t>
            </a:r>
            <a:r>
              <a:rPr lang="en-US" sz="1100" dirty="0" err="1">
                <a:latin typeface="Bahnschrift Light Condensed" panose="020B0502040204020203" pitchFamily="34" charset="0"/>
              </a:rPr>
              <a:t>Masalan</a:t>
            </a:r>
            <a:r>
              <a:rPr lang="en-US" sz="1100" dirty="0">
                <a:latin typeface="Bahnschrift Light Condensed" panose="020B0502040204020203" pitchFamily="34" charset="0"/>
              </a:rPr>
              <a:t>, AI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yordamida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o'pka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saratoni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ko'z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kasalliklari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yurak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xastaliklarini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oldindan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aniqlash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mumkin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Dori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vositalarini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yaratish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>
                <a:latin typeface="Bahnschrift Light Condensed" panose="020B0502040204020203" pitchFamily="34" charset="0"/>
              </a:rPr>
              <a:t>AI </a:t>
            </a:r>
            <a:r>
              <a:rPr lang="en-US" sz="1100" dirty="0" err="1">
                <a:latin typeface="Bahnschrift Light Condensed" panose="020B0502040204020203" pitchFamily="34" charset="0"/>
              </a:rPr>
              <a:t>algoritmlari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yangi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dori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moddalarini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topishda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ularning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kimyoviy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reaksiyalarini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o'rganishda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qo'llaniladi</a:t>
            </a:r>
            <a:r>
              <a:rPr lang="en-US" sz="1100" dirty="0">
                <a:latin typeface="Bahnschrift Light Condensed" panose="020B0502040204020203" pitchFamily="34" charset="0"/>
              </a:rPr>
              <a:t>. </a:t>
            </a:r>
            <a:r>
              <a:rPr lang="en-US" sz="1100" dirty="0" err="1">
                <a:latin typeface="Bahnschrift Light Condensed" panose="020B0502040204020203" pitchFamily="34" charset="0"/>
              </a:rPr>
              <a:t>Sun'iy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intellekt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shifokorlarga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tashxis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qo'yishda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bemorlarga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mos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davolash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usulini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tanlashda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beradi</a:t>
            </a:r>
            <a:r>
              <a:rPr lang="en-US" sz="1100" dirty="0">
                <a:latin typeface="Bahnschrift Light Condensed" panose="020B0502040204020203" pitchFamily="34" charset="0"/>
              </a:rPr>
              <a:t> (IBM Watson Health).</a:t>
            </a:r>
          </a:p>
          <a:p>
            <a:pPr algn="just">
              <a:spcBef>
                <a:spcPts val="0"/>
              </a:spcBef>
            </a:pP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Robot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jarrohlar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 err="1">
                <a:latin typeface="Bahnschrift Light Condensed" panose="020B0502040204020203" pitchFamily="34" charset="0"/>
              </a:rPr>
              <a:t>Robotlar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yordamida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aniqlik</a:t>
            </a:r>
            <a:r>
              <a:rPr lang="en-US" sz="1100" dirty="0">
                <a:latin typeface="Bahnschrift Light Condensed" panose="020B0502040204020203" pitchFamily="34" charset="0"/>
              </a:rPr>
              <a:t> talab </a:t>
            </a:r>
            <a:r>
              <a:rPr lang="en-US" sz="1100" dirty="0" err="1">
                <a:latin typeface="Bahnschrift Light Condensed" panose="020B0502040204020203" pitchFamily="34" charset="0"/>
              </a:rPr>
              <a:t>qiladigan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jarrohlik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amaliyotlari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amalga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oshirilmoqda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  <a:endParaRPr lang="ru-RU" sz="1100" dirty="0">
              <a:latin typeface="Bahnschrift Light Condensed" panose="020B0502040204020203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CC7962E-7DEA-19BB-36D8-A298C3786F81}"/>
              </a:ext>
            </a:extLst>
          </p:cNvPr>
          <p:cNvSpPr/>
          <p:nvPr/>
        </p:nvSpPr>
        <p:spPr>
          <a:xfrm>
            <a:off x="565504" y="1129308"/>
            <a:ext cx="403200" cy="331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1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05AA4C2D-EE8F-AAF2-543F-8FEAE71F7700}"/>
              </a:ext>
            </a:extLst>
          </p:cNvPr>
          <p:cNvSpPr txBox="1">
            <a:spLocks/>
          </p:cNvSpPr>
          <p:nvPr/>
        </p:nvSpPr>
        <p:spPr>
          <a:xfrm>
            <a:off x="565504" y="3762992"/>
            <a:ext cx="3211365" cy="3306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Mediya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va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ko'ngilochar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soha</a:t>
            </a:r>
            <a:endParaRPr lang="en-US" sz="14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E9F16B9C-0FDE-FE14-EB8E-C2495AE59656}"/>
              </a:ext>
            </a:extLst>
          </p:cNvPr>
          <p:cNvSpPr txBox="1">
            <a:spLocks/>
          </p:cNvSpPr>
          <p:nvPr/>
        </p:nvSpPr>
        <p:spPr>
          <a:xfrm>
            <a:off x="479425" y="4090826"/>
            <a:ext cx="3297443" cy="19625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Kontent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yaratish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>
                <a:latin typeface="Bahnschrift Light Condensed" panose="020B0502040204020203" pitchFamily="34" charset="0"/>
              </a:rPr>
              <a:t>AI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yordamida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musiqa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matn</a:t>
            </a:r>
            <a:r>
              <a:rPr lang="en-US" sz="1100" dirty="0">
                <a:latin typeface="Bahnschrift Light Condensed" panose="020B0502040204020203" pitchFamily="34" charset="0"/>
              </a:rPr>
              <a:t>, video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boshqa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ko'ngilochar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kontentlar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yaratish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mumkin</a:t>
            </a:r>
            <a:r>
              <a:rPr lang="en-US" sz="1100" dirty="0">
                <a:latin typeface="Bahnschrift Light Condensed" panose="020B0502040204020203" pitchFamily="34" charset="0"/>
              </a:rPr>
              <a:t> (</a:t>
            </a:r>
            <a:r>
              <a:rPr lang="en-US" sz="1100" dirty="0" err="1">
                <a:latin typeface="Bahnschrift Light Condensed" panose="020B0502040204020203" pitchFamily="34" charset="0"/>
              </a:rPr>
              <a:t>masalan</a:t>
            </a:r>
            <a:r>
              <a:rPr lang="en-US" sz="1100" dirty="0">
                <a:latin typeface="Bahnschrift Light Condensed" panose="020B0502040204020203" pitchFamily="34" charset="0"/>
              </a:rPr>
              <a:t>, deepfake </a:t>
            </a:r>
            <a:r>
              <a:rPr lang="en-US" sz="1100" dirty="0" err="1">
                <a:latin typeface="Bahnschrift Light Condensed" panose="020B0502040204020203" pitchFamily="34" charset="0"/>
              </a:rPr>
              <a:t>texnologiyalari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yoki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musiqiy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kompozitsiyalar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yaratish</a:t>
            </a:r>
            <a:r>
              <a:rPr lang="en-US" sz="1100" dirty="0">
                <a:latin typeface="Bahnschrift Light Condensed" panose="020B0502040204020203" pitchFamily="34" charset="0"/>
              </a:rPr>
              <a:t>).</a:t>
            </a:r>
          </a:p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Rekomendatsiya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tizimlari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 err="1">
                <a:latin typeface="Bahnschrift Light Condensed" panose="020B0502040204020203" pitchFamily="34" charset="0"/>
              </a:rPr>
              <a:t>Sun'iy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intellekt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kontentlarni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foydalanuvchi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qiziqishlariga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mos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ravishda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taklif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qilish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uchun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qo'llaniladi</a:t>
            </a:r>
            <a:r>
              <a:rPr lang="en-US" sz="1100" dirty="0">
                <a:latin typeface="Bahnschrift Light Condensed" panose="020B0502040204020203" pitchFamily="34" charset="0"/>
              </a:rPr>
              <a:t> (</a:t>
            </a:r>
            <a:r>
              <a:rPr lang="en-US" sz="1100" dirty="0" err="1">
                <a:latin typeface="Bahnschrift Light Condensed" panose="020B0502040204020203" pitchFamily="34" charset="0"/>
              </a:rPr>
              <a:t>masalan</a:t>
            </a:r>
            <a:r>
              <a:rPr lang="en-US" sz="1100" dirty="0">
                <a:latin typeface="Bahnschrift Light Condensed" panose="020B0502040204020203" pitchFamily="34" charset="0"/>
              </a:rPr>
              <a:t>, YouTube, Netflix).</a:t>
            </a:r>
          </a:p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Tasvir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va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ovoz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tahlili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 err="1">
                <a:latin typeface="Bahnschrift Light Condensed" panose="020B0502040204020203" pitchFamily="34" charset="0"/>
              </a:rPr>
              <a:t>Sun'iy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intellekt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filmlar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videolar</a:t>
            </a:r>
            <a:r>
              <a:rPr lang="en-US" sz="1100" dirty="0">
                <a:latin typeface="Bahnschrift Light Condensed" panose="020B0502040204020203" pitchFamily="34" charset="0"/>
              </a:rPr>
              <a:t>, audio </a:t>
            </a:r>
            <a:r>
              <a:rPr lang="en-US" sz="1100" dirty="0" err="1">
                <a:latin typeface="Bahnschrift Light Condensed" panose="020B0502040204020203" pitchFamily="34" charset="0"/>
              </a:rPr>
              <a:t>fayllarni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qayta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ishlash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optimallashtirishda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ishlatiladi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  <a:endParaRPr lang="ru-RU" sz="1100" dirty="0">
              <a:latin typeface="Bahnschrift Light Condensed" panose="020B0502040204020203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DD62C42-DD6B-DFBD-5922-830C7AA7DAF0}"/>
              </a:ext>
            </a:extLst>
          </p:cNvPr>
          <p:cNvSpPr/>
          <p:nvPr/>
        </p:nvSpPr>
        <p:spPr>
          <a:xfrm>
            <a:off x="565504" y="3759913"/>
            <a:ext cx="403200" cy="331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4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08021B4D-0379-5BE0-202E-E561C14F1E33}"/>
              </a:ext>
            </a:extLst>
          </p:cNvPr>
          <p:cNvSpPr txBox="1">
            <a:spLocks/>
          </p:cNvSpPr>
          <p:nvPr/>
        </p:nvSpPr>
        <p:spPr>
          <a:xfrm>
            <a:off x="4490314" y="1138662"/>
            <a:ext cx="3211366" cy="3306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Moliya</a:t>
            </a:r>
            <a:endParaRPr lang="en-US" sz="14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9" name="Объект 2">
            <a:extLst>
              <a:ext uri="{FF2B5EF4-FFF2-40B4-BE49-F238E27FC236}">
                <a16:creationId xmlns:a16="http://schemas.microsoft.com/office/drawing/2014/main" id="{F63F9138-7B49-718B-955C-AD8AE09C0B6D}"/>
              </a:ext>
            </a:extLst>
          </p:cNvPr>
          <p:cNvSpPr txBox="1">
            <a:spLocks/>
          </p:cNvSpPr>
          <p:nvPr/>
        </p:nvSpPr>
        <p:spPr>
          <a:xfrm>
            <a:off x="4404236" y="1466496"/>
            <a:ext cx="3297444" cy="19625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Fraud detection (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firibgarlikni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aniqlash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): </a:t>
            </a:r>
            <a:r>
              <a:rPr lang="en-US" sz="1100" dirty="0">
                <a:latin typeface="Bahnschrift Light Condensed" panose="020B0502040204020203" pitchFamily="34" charset="0"/>
              </a:rPr>
              <a:t>AI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yordamida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moliyaviy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operatsiyalar</a:t>
            </a:r>
            <a:r>
              <a:rPr lang="en-US" sz="1100" dirty="0">
                <a:latin typeface="Bahnschrift Light Condensed" panose="020B0502040204020203" pitchFamily="34" charset="0"/>
              </a:rPr>
              <a:t> real </a:t>
            </a:r>
            <a:r>
              <a:rPr lang="en-US" sz="1100" dirty="0" err="1">
                <a:latin typeface="Bahnschrift Light Condensed" panose="020B0502040204020203" pitchFamily="34" charset="0"/>
              </a:rPr>
              <a:t>vaqtda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kuzatilib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firibgarlikning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oldi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olinadi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Qimmatli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qog'ozlar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bozori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tahlili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 err="1">
                <a:latin typeface="Bahnschrift Light Condensed" panose="020B0502040204020203" pitchFamily="34" charset="0"/>
              </a:rPr>
              <a:t>Sun'iy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intellekt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investorlar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uchun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bozor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tahlili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prognozlash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ishlarini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bajaradi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bu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esa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yuqori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aniqlikdagi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qarorlarni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qabul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qilish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imkonini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beradi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Chatbotlar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va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mijozlarga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xizmat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ko'rsatish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 err="1">
                <a:latin typeface="Bahnschrift Light Condensed" panose="020B0502040204020203" pitchFamily="34" charset="0"/>
              </a:rPr>
              <a:t>Banklar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sun'iy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intellekt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yordamida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chatbotlarni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qo'llab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mijozlarga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avtomatik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xizmat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ko'rsatishni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yo'lga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qo'yishmoqda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  <a:endParaRPr lang="ru-RU" sz="1100" dirty="0">
              <a:latin typeface="Bahnschrift Light Condensed" panose="020B0502040204020203" pitchFamily="34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84F23E7-A4FA-DBB9-EB96-E4CD69EF1C7D}"/>
              </a:ext>
            </a:extLst>
          </p:cNvPr>
          <p:cNvSpPr/>
          <p:nvPr/>
        </p:nvSpPr>
        <p:spPr>
          <a:xfrm>
            <a:off x="4495677" y="1135583"/>
            <a:ext cx="403200" cy="331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2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8A60956D-90ED-B1A2-AC3E-1C765A41E771}"/>
              </a:ext>
            </a:extLst>
          </p:cNvPr>
          <p:cNvSpPr txBox="1">
            <a:spLocks/>
          </p:cNvSpPr>
          <p:nvPr/>
        </p:nvSpPr>
        <p:spPr>
          <a:xfrm>
            <a:off x="4495676" y="3762992"/>
            <a:ext cx="3206004" cy="3306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Chakana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savdo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</a:p>
        </p:txBody>
      </p:sp>
      <p:sp>
        <p:nvSpPr>
          <p:cNvPr id="32" name="Объект 2">
            <a:extLst>
              <a:ext uri="{FF2B5EF4-FFF2-40B4-BE49-F238E27FC236}">
                <a16:creationId xmlns:a16="http://schemas.microsoft.com/office/drawing/2014/main" id="{2174DC3D-5B99-FAC6-BB37-4BB8133B7BAB}"/>
              </a:ext>
            </a:extLst>
          </p:cNvPr>
          <p:cNvSpPr txBox="1">
            <a:spLocks/>
          </p:cNvSpPr>
          <p:nvPr/>
        </p:nvSpPr>
        <p:spPr>
          <a:xfrm>
            <a:off x="4404237" y="4090826"/>
            <a:ext cx="3297442" cy="19625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Rekomendatsiya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tizimlari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 err="1">
                <a:latin typeface="Bahnschrift Light Condensed" panose="020B0502040204020203" pitchFamily="34" charset="0"/>
              </a:rPr>
              <a:t>Onlayn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savdo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platformalari</a:t>
            </a:r>
            <a:r>
              <a:rPr lang="en-US" sz="1100" dirty="0">
                <a:latin typeface="Bahnschrift Light Condensed" panose="020B0502040204020203" pitchFamily="34" charset="0"/>
              </a:rPr>
              <a:t> AI </a:t>
            </a:r>
            <a:r>
              <a:rPr lang="en-US" sz="1100" dirty="0" err="1">
                <a:latin typeface="Bahnschrift Light Condensed" panose="020B0502040204020203" pitchFamily="34" charset="0"/>
              </a:rPr>
              <a:t>orqali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mijozlarga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mos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mahsulotlarni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taklif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qiladi</a:t>
            </a:r>
            <a:r>
              <a:rPr lang="en-US" sz="1100" dirty="0">
                <a:latin typeface="Bahnschrift Light Condensed" panose="020B0502040204020203" pitchFamily="34" charset="0"/>
              </a:rPr>
              <a:t> (Amazon, Alibaba).</a:t>
            </a:r>
          </a:p>
          <a:p>
            <a:pPr algn="just">
              <a:spcBef>
                <a:spcPts val="0"/>
              </a:spcBef>
            </a:pP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Stok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boshqaruvi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 err="1">
                <a:latin typeface="Bahnschrift Light Condensed" panose="020B0502040204020203" pitchFamily="34" charset="0"/>
              </a:rPr>
              <a:t>Sun'iy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intellekt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yordamida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inventarizatsiyani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boshqarish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talabni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prognozlash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etkazib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berish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zanjirini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optimallashtirish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amalga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oshirilmoqda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Shaxsiylashtirilgan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tajriba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>
                <a:latin typeface="Bahnschrift Light Condensed" panose="020B0502040204020203" pitchFamily="34" charset="0"/>
              </a:rPr>
              <a:t>AI </a:t>
            </a:r>
            <a:r>
              <a:rPr lang="en-US" sz="1100" dirty="0" err="1">
                <a:latin typeface="Bahnschrift Light Condensed" panose="020B0502040204020203" pitchFamily="34" charset="0"/>
              </a:rPr>
              <a:t>mijozlar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xatti-harakatlarini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tahlil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qilib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ularga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shaxsiylashtirilgan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xizmat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ko'rsatishni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ta'minlaydi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  <a:endParaRPr lang="ru-RU" sz="1100" dirty="0">
              <a:latin typeface="Bahnschrift Light Condensed" panose="020B0502040204020203" pitchFamily="34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C645926-D6E9-0899-E263-B67CDAF7CD07}"/>
              </a:ext>
            </a:extLst>
          </p:cNvPr>
          <p:cNvSpPr/>
          <p:nvPr/>
        </p:nvSpPr>
        <p:spPr>
          <a:xfrm>
            <a:off x="4495677" y="3759913"/>
            <a:ext cx="403200" cy="331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5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34" name="Заголовок 1">
            <a:extLst>
              <a:ext uri="{FF2B5EF4-FFF2-40B4-BE49-F238E27FC236}">
                <a16:creationId xmlns:a16="http://schemas.microsoft.com/office/drawing/2014/main" id="{776EE62D-46F1-0933-A97E-1923892C029D}"/>
              </a:ext>
            </a:extLst>
          </p:cNvPr>
          <p:cNvSpPr txBox="1">
            <a:spLocks/>
          </p:cNvSpPr>
          <p:nvPr/>
        </p:nvSpPr>
        <p:spPr>
          <a:xfrm>
            <a:off x="8415124" y="1138662"/>
            <a:ext cx="3211372" cy="3306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Avtomobil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sanoati</a:t>
            </a:r>
            <a:endParaRPr lang="en-US" sz="14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19A0B49D-1C77-E4CD-5CB7-94D447AD4E14}"/>
              </a:ext>
            </a:extLst>
          </p:cNvPr>
          <p:cNvSpPr txBox="1">
            <a:spLocks/>
          </p:cNvSpPr>
          <p:nvPr/>
        </p:nvSpPr>
        <p:spPr>
          <a:xfrm>
            <a:off x="8329051" y="1466496"/>
            <a:ext cx="3297444" cy="19625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Avtonom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transport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vositalari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(self-driving cars): </a:t>
            </a:r>
            <a:r>
              <a:rPr lang="en-US" sz="1100" dirty="0" err="1">
                <a:latin typeface="Bahnschrift Light Condensed" panose="020B0502040204020203" pitchFamily="34" charset="0"/>
              </a:rPr>
              <a:t>Sun'iy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intellekt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avtonom</a:t>
            </a:r>
            <a:r>
              <a:rPr lang="en-US" sz="1100" dirty="0">
                <a:latin typeface="Bahnschrift Light Condensed" panose="020B0502040204020203" pitchFamily="34" charset="0"/>
              </a:rPr>
              <a:t> transport </a:t>
            </a:r>
            <a:r>
              <a:rPr lang="en-US" sz="1100" dirty="0" err="1">
                <a:latin typeface="Bahnschrift Light Condensed" panose="020B0502040204020203" pitchFamily="34" charset="0"/>
              </a:rPr>
              <a:t>vositalarini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boshqarishda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asosiy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texnologiya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hisoblanadi</a:t>
            </a:r>
            <a:r>
              <a:rPr lang="en-US" sz="1100" dirty="0">
                <a:latin typeface="Bahnschrift Light Condensed" panose="020B0502040204020203" pitchFamily="34" charset="0"/>
              </a:rPr>
              <a:t>. </a:t>
            </a:r>
            <a:r>
              <a:rPr lang="en-US" sz="1100" dirty="0" err="1">
                <a:latin typeface="Bahnschrift Light Condensed" panose="020B0502040204020203" pitchFamily="34" charset="0"/>
              </a:rPr>
              <a:t>Masalan</a:t>
            </a:r>
            <a:r>
              <a:rPr lang="en-US" sz="1100" dirty="0">
                <a:latin typeface="Bahnschrift Light Condensed" panose="020B0502040204020203" pitchFamily="34" charset="0"/>
              </a:rPr>
              <a:t>, Tesla, Google (Waymo) </a:t>
            </a:r>
            <a:r>
              <a:rPr lang="en-US" sz="1100" dirty="0" err="1">
                <a:latin typeface="Bahnschrift Light Condensed" panose="020B0502040204020203" pitchFamily="34" charset="0"/>
              </a:rPr>
              <a:t>kabi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kompaniyalar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avtonom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avtomobillarni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yaratish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uchun</a:t>
            </a:r>
            <a:r>
              <a:rPr lang="en-US" sz="1100" dirty="0">
                <a:latin typeface="Bahnschrift Light Condensed" panose="020B0502040204020203" pitchFamily="34" charset="0"/>
              </a:rPr>
              <a:t> AI dan </a:t>
            </a:r>
            <a:r>
              <a:rPr lang="en-US" sz="1100" dirty="0" err="1">
                <a:latin typeface="Bahnschrift Light Condensed" panose="020B0502040204020203" pitchFamily="34" charset="0"/>
              </a:rPr>
              <a:t>foydalanmoqda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Haydovchini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qo'llab-quvvatlash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</a:t>
            </a:r>
            <a:r>
              <a:rPr lang="en-US" sz="1100" dirty="0">
                <a:latin typeface="Bahnschrift Light Condensed" panose="020B0502040204020203" pitchFamily="34" charset="0"/>
              </a:rPr>
              <a:t> AI </a:t>
            </a:r>
            <a:r>
              <a:rPr lang="en-US" sz="1100" dirty="0" err="1">
                <a:latin typeface="Bahnschrift Light Condensed" panose="020B0502040204020203" pitchFamily="34" charset="0"/>
              </a:rPr>
              <a:t>vositalari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haydovchiga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berish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uchun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foydalaniladi</a:t>
            </a:r>
            <a:r>
              <a:rPr lang="en-US" sz="1100" dirty="0">
                <a:latin typeface="Bahnschrift Light Condensed" panose="020B0502040204020203" pitchFamily="34" charset="0"/>
              </a:rPr>
              <a:t> (</a:t>
            </a:r>
            <a:r>
              <a:rPr lang="en-US" sz="1100" dirty="0" err="1">
                <a:latin typeface="Bahnschrift Light Condensed" panose="020B0502040204020203" pitchFamily="34" charset="0"/>
              </a:rPr>
              <a:t>masalan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to'xtash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joyini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tanlash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avtomatik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to'xtash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xavfli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vaziyatlarni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oldindan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sezish</a:t>
            </a:r>
            <a:r>
              <a:rPr lang="en-US" sz="1100" dirty="0">
                <a:latin typeface="Bahnschrift Light Condensed" panose="020B0502040204020203" pitchFamily="34" charset="0"/>
              </a:rPr>
              <a:t>).</a:t>
            </a:r>
            <a:endParaRPr lang="ru-RU" sz="1100" dirty="0">
              <a:latin typeface="Bahnschrift Light Condensed" panose="020B0502040204020203" pitchFamily="34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5A2BAC51-5AD1-0BAB-A0BE-3CB253088678}"/>
              </a:ext>
            </a:extLst>
          </p:cNvPr>
          <p:cNvSpPr/>
          <p:nvPr/>
        </p:nvSpPr>
        <p:spPr>
          <a:xfrm>
            <a:off x="8420487" y="1135583"/>
            <a:ext cx="403200" cy="331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3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37" name="Заголовок 1">
            <a:extLst>
              <a:ext uri="{FF2B5EF4-FFF2-40B4-BE49-F238E27FC236}">
                <a16:creationId xmlns:a16="http://schemas.microsoft.com/office/drawing/2014/main" id="{3245CD01-8B07-F502-1DEA-D850920E0A96}"/>
              </a:ext>
            </a:extLst>
          </p:cNvPr>
          <p:cNvSpPr txBox="1">
            <a:spLocks/>
          </p:cNvSpPr>
          <p:nvPr/>
        </p:nvSpPr>
        <p:spPr>
          <a:xfrm>
            <a:off x="8415124" y="3762992"/>
            <a:ext cx="3211371" cy="3306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Ta'lim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73B45194-D0AD-FF74-4535-226F67D2F6D5}"/>
              </a:ext>
            </a:extLst>
          </p:cNvPr>
          <p:cNvSpPr txBox="1">
            <a:spLocks/>
          </p:cNvSpPr>
          <p:nvPr/>
        </p:nvSpPr>
        <p:spPr>
          <a:xfrm>
            <a:off x="8329051" y="4090826"/>
            <a:ext cx="3297443" cy="19625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Shaxsiy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o'qitish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tizimlari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>
                <a:latin typeface="Bahnschrift Light Condensed" panose="020B0502040204020203" pitchFamily="34" charset="0"/>
              </a:rPr>
              <a:t>AI </a:t>
            </a:r>
            <a:r>
              <a:rPr lang="en-US" sz="1100" dirty="0" err="1">
                <a:latin typeface="Bahnschrift Light Condensed" panose="020B0502040204020203" pitchFamily="34" charset="0"/>
              </a:rPr>
              <a:t>asosidagi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ta'lim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platformalari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har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bir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o'quvchining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qobiliyatiga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moslashtirilgan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o'quv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rejalarini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taklif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qiladi</a:t>
            </a:r>
            <a:r>
              <a:rPr lang="en-US" sz="1100" dirty="0">
                <a:latin typeface="Bahnschrift Light Condensed" panose="020B0502040204020203" pitchFamily="34" charset="0"/>
              </a:rPr>
              <a:t> (</a:t>
            </a:r>
            <a:r>
              <a:rPr lang="en-US" sz="1100" dirty="0" err="1">
                <a:latin typeface="Bahnschrift Light Condensed" panose="020B0502040204020203" pitchFamily="34" charset="0"/>
              </a:rPr>
              <a:t>masalan</a:t>
            </a:r>
            <a:r>
              <a:rPr lang="en-US" sz="1100" dirty="0">
                <a:latin typeface="Bahnschrift Light Condensed" panose="020B0502040204020203" pitchFamily="34" charset="0"/>
              </a:rPr>
              <a:t>, Duolingo).</a:t>
            </a:r>
          </a:p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Avtomatik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baholash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tizimlari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>
                <a:latin typeface="Bahnschrift Light Condensed" panose="020B0502040204020203" pitchFamily="34" charset="0"/>
              </a:rPr>
              <a:t>AI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yordamida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testlarni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avtomatik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tekshirish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baholash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jarayonlari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amalga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oshirilmoqda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Virtual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yordamchilar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>
                <a:latin typeface="Bahnschrift Light Condensed" panose="020B0502040204020203" pitchFamily="34" charset="0"/>
              </a:rPr>
              <a:t>AI </a:t>
            </a:r>
            <a:r>
              <a:rPr lang="en-US" sz="1100" dirty="0" err="1">
                <a:latin typeface="Bahnschrift Light Condensed" panose="020B0502040204020203" pitchFamily="34" charset="0"/>
              </a:rPr>
              <a:t>o'qituvchilarga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yordamchi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sifatida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ishlatiladi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talabalar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bilan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savol-javob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o‘tkazadi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  <a:endParaRPr lang="ru-RU" sz="1100" dirty="0">
              <a:latin typeface="Bahnschrift Light Condensed" panose="020B0502040204020203" pitchFamily="34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AC3333EF-75C9-12F7-FF75-381F8DDE7CDA}"/>
              </a:ext>
            </a:extLst>
          </p:cNvPr>
          <p:cNvSpPr/>
          <p:nvPr/>
        </p:nvSpPr>
        <p:spPr>
          <a:xfrm>
            <a:off x="8420487" y="3759913"/>
            <a:ext cx="403200" cy="331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6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91251220-B453-921D-B16F-B8343C6F0784}"/>
              </a:ext>
            </a:extLst>
          </p:cNvPr>
          <p:cNvCxnSpPr/>
          <p:nvPr/>
        </p:nvCxnSpPr>
        <p:spPr>
          <a:xfrm>
            <a:off x="767104" y="4084726"/>
            <a:ext cx="2922301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02ACABE8-5898-3712-EBC1-EB414B2FFADB}"/>
              </a:ext>
            </a:extLst>
          </p:cNvPr>
          <p:cNvCxnSpPr/>
          <p:nvPr/>
        </p:nvCxnSpPr>
        <p:spPr>
          <a:xfrm>
            <a:off x="4688422" y="4084726"/>
            <a:ext cx="2922301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430C19D9-70E9-896C-18F1-1D94E858B43D}"/>
              </a:ext>
            </a:extLst>
          </p:cNvPr>
          <p:cNvCxnSpPr/>
          <p:nvPr/>
        </p:nvCxnSpPr>
        <p:spPr>
          <a:xfrm>
            <a:off x="8612390" y="4084726"/>
            <a:ext cx="2922301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5B8B402D-0527-EA37-7FC1-448AF3C474CC}"/>
              </a:ext>
            </a:extLst>
          </p:cNvPr>
          <p:cNvCxnSpPr>
            <a:cxnSpLocks/>
          </p:cNvCxnSpPr>
          <p:nvPr/>
        </p:nvCxnSpPr>
        <p:spPr>
          <a:xfrm>
            <a:off x="565502" y="1460916"/>
            <a:ext cx="312390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36E2A974-C55C-283F-8483-FEC16CAD77B8}"/>
              </a:ext>
            </a:extLst>
          </p:cNvPr>
          <p:cNvCxnSpPr>
            <a:cxnSpLocks/>
          </p:cNvCxnSpPr>
          <p:nvPr/>
        </p:nvCxnSpPr>
        <p:spPr>
          <a:xfrm>
            <a:off x="4534048" y="1460916"/>
            <a:ext cx="312390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974EE2B2-847A-C71A-20E0-CC3EFAC3967A}"/>
              </a:ext>
            </a:extLst>
          </p:cNvPr>
          <p:cNvCxnSpPr>
            <a:cxnSpLocks/>
          </p:cNvCxnSpPr>
          <p:nvPr/>
        </p:nvCxnSpPr>
        <p:spPr>
          <a:xfrm>
            <a:off x="8468485" y="1460916"/>
            <a:ext cx="312390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81887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4EA33-65F4-A710-7D5E-14848FC2F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557473"/>
            <a:ext cx="11147071" cy="351541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28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HOZIRDA SUN’IY INTELLEKT QAYSI SOHALARDA FOYDALANIB KELINMOQDA? </a:t>
            </a:r>
            <a:endParaRPr lang="ru-RU" sz="28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0BE13636-D998-4A75-8C1B-EDBD9E57D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6672E4D5-7CCB-4D76-86FF-83359027D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0A99088-90C4-E0AE-5918-0540217F2221}"/>
              </a:ext>
            </a:extLst>
          </p:cNvPr>
          <p:cNvSpPr txBox="1">
            <a:spLocks/>
          </p:cNvSpPr>
          <p:nvPr/>
        </p:nvSpPr>
        <p:spPr>
          <a:xfrm>
            <a:off x="565502" y="1138662"/>
            <a:ext cx="3211367" cy="3306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Ishlab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chiqarish</a:t>
            </a:r>
            <a:endParaRPr lang="en-US" sz="14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F065B42-392B-9BB7-FC42-6FCE19BAEF0A}"/>
              </a:ext>
            </a:extLst>
          </p:cNvPr>
          <p:cNvSpPr txBox="1">
            <a:spLocks/>
          </p:cNvSpPr>
          <p:nvPr/>
        </p:nvSpPr>
        <p:spPr>
          <a:xfrm>
            <a:off x="479425" y="1466496"/>
            <a:ext cx="3297444" cy="19625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Robototexnika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va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avtomatlashtirilgan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zavodlar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>
                <a:latin typeface="Bahnschrift Light Condensed" panose="020B0502040204020203" pitchFamily="34" charset="0"/>
              </a:rPr>
              <a:t>AI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yordamida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ishlab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chiqarish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liniyalari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optimallashtiriladi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mahsulotlarni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ishlab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chiqarish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jarayoni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avtomatlashtiriladi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samaradorlik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oshiriladi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Predictive maintenance (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oldindan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texnik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xizmat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ko'rsatish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): </a:t>
            </a:r>
            <a:r>
              <a:rPr lang="en-US" sz="1100" dirty="0" err="1">
                <a:latin typeface="Bahnschrift Light Condensed" panose="020B0502040204020203" pitchFamily="34" charset="0"/>
              </a:rPr>
              <a:t>Sun'iy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intellekt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uskunalarning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texnik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holatini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tahlil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qilib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ularni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qachon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ta'mirlash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kerakligini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oldindan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aniqlaydi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Sifat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nazorati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>
                <a:latin typeface="Bahnschrift Light Condensed" panose="020B0502040204020203" pitchFamily="34" charset="0"/>
              </a:rPr>
              <a:t>AI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yordamida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mahsulotlar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sifatini</a:t>
            </a:r>
            <a:r>
              <a:rPr lang="en-US" sz="1100" dirty="0">
                <a:latin typeface="Bahnschrift Light Condensed" panose="020B0502040204020203" pitchFamily="34" charset="0"/>
              </a:rPr>
              <a:t> real </a:t>
            </a:r>
            <a:r>
              <a:rPr lang="en-US" sz="1100" dirty="0" err="1">
                <a:latin typeface="Bahnschrift Light Condensed" panose="020B0502040204020203" pitchFamily="34" charset="0"/>
              </a:rPr>
              <a:t>vaqtda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tekshirish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imkoniyati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yaratiladi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  <a:endParaRPr lang="ru-RU" sz="1100" dirty="0">
              <a:latin typeface="Bahnschrift Light Condensed" panose="020B0502040204020203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CC7962E-7DEA-19BB-36D8-A298C3786F81}"/>
              </a:ext>
            </a:extLst>
          </p:cNvPr>
          <p:cNvSpPr/>
          <p:nvPr/>
        </p:nvSpPr>
        <p:spPr>
          <a:xfrm>
            <a:off x="565504" y="1129308"/>
            <a:ext cx="403200" cy="331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7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05AA4C2D-EE8F-AAF2-543F-8FEAE71F7700}"/>
              </a:ext>
            </a:extLst>
          </p:cNvPr>
          <p:cNvSpPr txBox="1">
            <a:spLocks/>
          </p:cNvSpPr>
          <p:nvPr/>
        </p:nvSpPr>
        <p:spPr>
          <a:xfrm>
            <a:off x="565504" y="3762992"/>
            <a:ext cx="3211365" cy="3306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Mijozlarga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xizmat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ko'rsatish</a:t>
            </a:r>
            <a:endParaRPr lang="en-US" sz="14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E9F16B9C-0FDE-FE14-EB8E-C2495AE59656}"/>
              </a:ext>
            </a:extLst>
          </p:cNvPr>
          <p:cNvSpPr txBox="1">
            <a:spLocks/>
          </p:cNvSpPr>
          <p:nvPr/>
        </p:nvSpPr>
        <p:spPr>
          <a:xfrm>
            <a:off x="479425" y="4090826"/>
            <a:ext cx="3297443" cy="19625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Chatbotlar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 err="1">
                <a:latin typeface="Bahnschrift Light Condensed" panose="020B0502040204020203" pitchFamily="34" charset="0"/>
              </a:rPr>
              <a:t>Sun'iy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intellekt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chatbotlari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mijozlarga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avtomatik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ravishda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xizmat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ko'rsatadi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savollarga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javob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beradi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oddiy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muammolarni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hal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qiladi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Ovozli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yordamchilar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>
                <a:latin typeface="Bahnschrift Light Condensed" panose="020B0502040204020203" pitchFamily="34" charset="0"/>
              </a:rPr>
              <a:t>Siri, Google Assistant, Amazon Alexa, Yandex Alisa </a:t>
            </a:r>
            <a:r>
              <a:rPr lang="en-US" sz="1100" dirty="0" err="1">
                <a:latin typeface="Bahnschrift Light Condensed" panose="020B0502040204020203" pitchFamily="34" charset="0"/>
              </a:rPr>
              <a:t>kabi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ovozli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yordamchilar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foydalanuvchi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buyruqlarini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tushunib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ularni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bajaradi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  <a:endParaRPr lang="ru-RU" sz="1100" dirty="0">
              <a:latin typeface="Bahnschrift Light Condensed" panose="020B0502040204020203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DD62C42-DD6B-DFBD-5922-830C7AA7DAF0}"/>
              </a:ext>
            </a:extLst>
          </p:cNvPr>
          <p:cNvSpPr/>
          <p:nvPr/>
        </p:nvSpPr>
        <p:spPr>
          <a:xfrm>
            <a:off x="565504" y="3759913"/>
            <a:ext cx="403200" cy="331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10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08021B4D-0379-5BE0-202E-E561C14F1E33}"/>
              </a:ext>
            </a:extLst>
          </p:cNvPr>
          <p:cNvSpPr txBox="1">
            <a:spLocks/>
          </p:cNvSpPr>
          <p:nvPr/>
        </p:nvSpPr>
        <p:spPr>
          <a:xfrm>
            <a:off x="4490314" y="1138662"/>
            <a:ext cx="3211366" cy="3306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Qonunchilik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va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huquq</a:t>
            </a:r>
            <a:endParaRPr lang="en-US" sz="14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9" name="Объект 2">
            <a:extLst>
              <a:ext uri="{FF2B5EF4-FFF2-40B4-BE49-F238E27FC236}">
                <a16:creationId xmlns:a16="http://schemas.microsoft.com/office/drawing/2014/main" id="{F63F9138-7B49-718B-955C-AD8AE09C0B6D}"/>
              </a:ext>
            </a:extLst>
          </p:cNvPr>
          <p:cNvSpPr txBox="1">
            <a:spLocks/>
          </p:cNvSpPr>
          <p:nvPr/>
        </p:nvSpPr>
        <p:spPr>
          <a:xfrm>
            <a:off x="4404236" y="1466496"/>
            <a:ext cx="3297444" cy="19625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Hujjatlarni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tahlil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qilish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>
                <a:latin typeface="Bahnschrift Light Condensed" panose="020B0502040204020203" pitchFamily="34" charset="0"/>
              </a:rPr>
              <a:t>AI </a:t>
            </a:r>
            <a:r>
              <a:rPr lang="en-US" sz="1100" dirty="0" err="1">
                <a:latin typeface="Bahnschrift Light Condensed" panose="020B0502040204020203" pitchFamily="34" charset="0"/>
              </a:rPr>
              <a:t>huquqshunoslarga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ko'p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miqdordagi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hujjatlarni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tez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tahlil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qilish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tegishli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ma'lumotlarni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topishga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beradi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Shartnomalar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tayyorlash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 err="1">
                <a:latin typeface="Bahnschrift Light Condensed" panose="020B0502040204020203" pitchFamily="34" charset="0"/>
              </a:rPr>
              <a:t>Sun'iy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intellekt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yuridik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shartnomalarni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avtomatik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ravishda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yaratish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tahlil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qilish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imkoniyatiga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ega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Sud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qarorlarini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prognozlash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>
                <a:latin typeface="Bahnschrift Light Condensed" panose="020B0502040204020203" pitchFamily="34" charset="0"/>
              </a:rPr>
              <a:t>AI </a:t>
            </a:r>
            <a:r>
              <a:rPr lang="en-US" sz="1100" dirty="0" err="1">
                <a:latin typeface="Bahnschrift Light Condensed" panose="020B0502040204020203" pitchFamily="34" charset="0"/>
              </a:rPr>
              <a:t>sud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jarayonlari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natijalarini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tahlil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qilib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prognoz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qilishda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beradi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  <a:endParaRPr lang="ru-RU" sz="1100" dirty="0">
              <a:latin typeface="Bahnschrift Light Condensed" panose="020B0502040204020203" pitchFamily="34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84F23E7-A4FA-DBB9-EB96-E4CD69EF1C7D}"/>
              </a:ext>
            </a:extLst>
          </p:cNvPr>
          <p:cNvSpPr/>
          <p:nvPr/>
        </p:nvSpPr>
        <p:spPr>
          <a:xfrm>
            <a:off x="4495677" y="1135583"/>
            <a:ext cx="403200" cy="331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8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8A60956D-90ED-B1A2-AC3E-1C765A41E771}"/>
              </a:ext>
            </a:extLst>
          </p:cNvPr>
          <p:cNvSpPr txBox="1">
            <a:spLocks/>
          </p:cNvSpPr>
          <p:nvPr/>
        </p:nvSpPr>
        <p:spPr>
          <a:xfrm>
            <a:off x="4495676" y="3762992"/>
            <a:ext cx="3206004" cy="3306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Transport </a:t>
            </a:r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va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logistika</a:t>
            </a:r>
            <a:endParaRPr lang="en-US" sz="14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2" name="Объект 2">
            <a:extLst>
              <a:ext uri="{FF2B5EF4-FFF2-40B4-BE49-F238E27FC236}">
                <a16:creationId xmlns:a16="http://schemas.microsoft.com/office/drawing/2014/main" id="{2174DC3D-5B99-FAC6-BB37-4BB8133B7BAB}"/>
              </a:ext>
            </a:extLst>
          </p:cNvPr>
          <p:cNvSpPr txBox="1">
            <a:spLocks/>
          </p:cNvSpPr>
          <p:nvPr/>
        </p:nvSpPr>
        <p:spPr>
          <a:xfrm>
            <a:off x="4404237" y="4090826"/>
            <a:ext cx="3297442" cy="19625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Yuk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tashishni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optimallashtirish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>
                <a:latin typeface="Bahnschrift Light Condensed" panose="020B0502040204020203" pitchFamily="34" charset="0"/>
              </a:rPr>
              <a:t>AI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yordamida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yuklarni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yetkazib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berish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yo'llarini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optimallashtirish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etkazib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berish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vaqtini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qisqartirish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xarajatlarni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kamaytirish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amalga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oshiriladi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Dronlar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va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avtonom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transport: </a:t>
            </a:r>
            <a:r>
              <a:rPr lang="en-US" sz="1100" dirty="0" err="1">
                <a:latin typeface="Bahnschrift Light Condensed" panose="020B0502040204020203" pitchFamily="34" charset="0"/>
              </a:rPr>
              <a:t>Sun'iy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intellekt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avtonom</a:t>
            </a:r>
            <a:r>
              <a:rPr lang="en-US" sz="1100" dirty="0">
                <a:latin typeface="Bahnschrift Light Condensed" panose="020B0502040204020203" pitchFamily="34" charset="0"/>
              </a:rPr>
              <a:t> transport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dronlar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orqali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yuklarni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etkazib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berish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tizimlarini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boshqarishda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qo'llaniladi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  <a:endParaRPr lang="ru-RU" sz="1100" dirty="0">
              <a:latin typeface="Bahnschrift Light Condensed" panose="020B0502040204020203" pitchFamily="34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C645926-D6E9-0899-E263-B67CDAF7CD07}"/>
              </a:ext>
            </a:extLst>
          </p:cNvPr>
          <p:cNvSpPr/>
          <p:nvPr/>
        </p:nvSpPr>
        <p:spPr>
          <a:xfrm>
            <a:off x="4495677" y="3759913"/>
            <a:ext cx="403200" cy="331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11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34" name="Заголовок 1">
            <a:extLst>
              <a:ext uri="{FF2B5EF4-FFF2-40B4-BE49-F238E27FC236}">
                <a16:creationId xmlns:a16="http://schemas.microsoft.com/office/drawing/2014/main" id="{776EE62D-46F1-0933-A97E-1923892C029D}"/>
              </a:ext>
            </a:extLst>
          </p:cNvPr>
          <p:cNvSpPr txBox="1">
            <a:spLocks/>
          </p:cNvSpPr>
          <p:nvPr/>
        </p:nvSpPr>
        <p:spPr>
          <a:xfrm>
            <a:off x="8415124" y="1138662"/>
            <a:ext cx="3211372" cy="3306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Qishloq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xo'jaligi</a:t>
            </a:r>
            <a:endParaRPr lang="en-US" sz="14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5" name="Объект 2">
            <a:extLst>
              <a:ext uri="{FF2B5EF4-FFF2-40B4-BE49-F238E27FC236}">
                <a16:creationId xmlns:a16="http://schemas.microsoft.com/office/drawing/2014/main" id="{19A0B49D-1C77-E4CD-5CB7-94D447AD4E14}"/>
              </a:ext>
            </a:extLst>
          </p:cNvPr>
          <p:cNvSpPr txBox="1">
            <a:spLocks/>
          </p:cNvSpPr>
          <p:nvPr/>
        </p:nvSpPr>
        <p:spPr>
          <a:xfrm>
            <a:off x="8329051" y="1466496"/>
            <a:ext cx="3297444" cy="19625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Hosildorlikni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oshirish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 err="1">
                <a:latin typeface="Bahnschrift Light Condensed" panose="020B0502040204020203" pitchFamily="34" charset="0"/>
              </a:rPr>
              <a:t>Sun'iy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intellekt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yordamida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hosilni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kuzatish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zararkunandalarga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qarshi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kurashish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optimal </a:t>
            </a:r>
            <a:r>
              <a:rPr lang="en-US" sz="1100" dirty="0" err="1">
                <a:latin typeface="Bahnschrift Light Condensed" panose="020B0502040204020203" pitchFamily="34" charset="0"/>
              </a:rPr>
              <a:t>ekish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vaqtlarini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belgilash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mumkin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Drayverizatsiya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qilingan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texnika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>
                <a:latin typeface="Bahnschrift Light Condensed" panose="020B0502040204020203" pitchFamily="34" charset="0"/>
              </a:rPr>
              <a:t>AI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yordamida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avtonom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traktorlar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texnika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vositalari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qo'llanilmoqda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Ma'lumotlar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tahlili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>
                <a:latin typeface="Bahnschrift Light Condensed" panose="020B0502040204020203" pitchFamily="34" charset="0"/>
              </a:rPr>
              <a:t>AI </a:t>
            </a:r>
            <a:r>
              <a:rPr lang="en-US" sz="1100" dirty="0" err="1">
                <a:latin typeface="Bahnschrift Light Condensed" panose="020B0502040204020203" pitchFamily="34" charset="0"/>
              </a:rPr>
              <a:t>qishloq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xo'jaligida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tuproq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iqlim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o'simliklarning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holatini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tahlil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qilib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samaradorlikni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oshiradi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  <a:endParaRPr lang="ru-RU" sz="1100" dirty="0">
              <a:latin typeface="Bahnschrift Light Condensed" panose="020B0502040204020203" pitchFamily="34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5A2BAC51-5AD1-0BAB-A0BE-3CB253088678}"/>
              </a:ext>
            </a:extLst>
          </p:cNvPr>
          <p:cNvSpPr/>
          <p:nvPr/>
        </p:nvSpPr>
        <p:spPr>
          <a:xfrm>
            <a:off x="8420486" y="1135583"/>
            <a:ext cx="401485" cy="331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9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37" name="Заголовок 1">
            <a:extLst>
              <a:ext uri="{FF2B5EF4-FFF2-40B4-BE49-F238E27FC236}">
                <a16:creationId xmlns:a16="http://schemas.microsoft.com/office/drawing/2014/main" id="{3245CD01-8B07-F502-1DEA-D850920E0A96}"/>
              </a:ext>
            </a:extLst>
          </p:cNvPr>
          <p:cNvSpPr txBox="1">
            <a:spLocks/>
          </p:cNvSpPr>
          <p:nvPr/>
        </p:nvSpPr>
        <p:spPr>
          <a:xfrm>
            <a:off x="8415124" y="3762992"/>
            <a:ext cx="3211371" cy="3306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Energiyani</a:t>
            </a:r>
            <a:r>
              <a:rPr lang="en-US" sz="1400" dirty="0">
                <a:solidFill>
                  <a:srgbClr val="00206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Bahnschrift SemiBold Condensed" panose="020B0502040204020203" pitchFamily="34" charset="0"/>
              </a:rPr>
              <a:t>boshqarish</a:t>
            </a:r>
            <a:endParaRPr lang="en-US" sz="1400" dirty="0">
              <a:solidFill>
                <a:srgbClr val="00206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73B45194-D0AD-FF74-4535-226F67D2F6D5}"/>
              </a:ext>
            </a:extLst>
          </p:cNvPr>
          <p:cNvSpPr txBox="1">
            <a:spLocks/>
          </p:cNvSpPr>
          <p:nvPr/>
        </p:nvSpPr>
        <p:spPr>
          <a:xfrm>
            <a:off x="8329051" y="4090826"/>
            <a:ext cx="3297443" cy="19625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Energiya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samaradorligi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>
                <a:latin typeface="Bahnschrift Light Condensed" panose="020B0502040204020203" pitchFamily="34" charset="0"/>
              </a:rPr>
              <a:t>AI </a:t>
            </a:r>
            <a:r>
              <a:rPr lang="en-US" sz="1100" dirty="0" err="1">
                <a:latin typeface="Bahnschrift Light Condensed" panose="020B0502040204020203" pitchFamily="34" charset="0"/>
              </a:rPr>
              <a:t>energiya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iste'molini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tahlil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qilib</a:t>
            </a:r>
            <a:r>
              <a:rPr lang="en-US" sz="1100" dirty="0">
                <a:latin typeface="Bahnschrift Light Condensed" panose="020B0502040204020203" pitchFamily="34" charset="0"/>
              </a:rPr>
              <a:t>, </a:t>
            </a:r>
            <a:r>
              <a:rPr lang="en-US" sz="1100" dirty="0" err="1">
                <a:latin typeface="Bahnschrift Light Condensed" panose="020B0502040204020203" pitchFamily="34" charset="0"/>
              </a:rPr>
              <a:t>undan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samarali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foydalanish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imkonini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beradi</a:t>
            </a:r>
            <a:r>
              <a:rPr lang="en-US" sz="1100" dirty="0">
                <a:latin typeface="Bahnschrift Light Condensed" panose="020B0502040204020203" pitchFamily="34" charset="0"/>
              </a:rPr>
              <a:t> (</a:t>
            </a:r>
            <a:r>
              <a:rPr lang="en-US" sz="1100" dirty="0" err="1">
                <a:latin typeface="Bahnschrift Light Condensed" panose="020B0502040204020203" pitchFamily="34" charset="0"/>
              </a:rPr>
              <a:t>masalan</a:t>
            </a:r>
            <a:r>
              <a:rPr lang="en-US" sz="1100" dirty="0">
                <a:latin typeface="Bahnschrift Light Condensed" panose="020B0502040204020203" pitchFamily="34" charset="0"/>
              </a:rPr>
              <a:t>, "</a:t>
            </a:r>
            <a:r>
              <a:rPr lang="en-US" sz="1100" dirty="0" err="1">
                <a:latin typeface="Bahnschrift Light Condensed" panose="020B0502040204020203" pitchFamily="34" charset="0"/>
              </a:rPr>
              <a:t>aqlli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uy</a:t>
            </a:r>
            <a:r>
              <a:rPr lang="en-US" sz="1100" dirty="0">
                <a:latin typeface="Bahnschrift Light Condensed" panose="020B0502040204020203" pitchFamily="34" charset="0"/>
              </a:rPr>
              <a:t>" </a:t>
            </a:r>
            <a:r>
              <a:rPr lang="en-US" sz="1100" dirty="0" err="1">
                <a:latin typeface="Bahnschrift Light Condensed" panose="020B0502040204020203" pitchFamily="34" charset="0"/>
              </a:rPr>
              <a:t>texnologiyalari</a:t>
            </a:r>
            <a:r>
              <a:rPr lang="en-US" sz="1100" dirty="0">
                <a:latin typeface="Bahnschrift Light Condensed" panose="020B0502040204020203" pitchFamily="34" charset="0"/>
              </a:rPr>
              <a:t>).</a:t>
            </a:r>
          </a:p>
          <a:p>
            <a:pPr algn="just">
              <a:spcBef>
                <a:spcPts val="0"/>
              </a:spcBef>
            </a:pP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Energiya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ishlab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chiqarishni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1100" b="1" dirty="0" err="1">
                <a:solidFill>
                  <a:srgbClr val="0070C0"/>
                </a:solidFill>
                <a:latin typeface="Bahnschrift Light Condensed" panose="020B0502040204020203" pitchFamily="34" charset="0"/>
              </a:rPr>
              <a:t>optimallashtirish</a:t>
            </a:r>
            <a:r>
              <a:rPr lang="en-US" sz="1100" b="1" dirty="0">
                <a:solidFill>
                  <a:srgbClr val="0070C0"/>
                </a:solidFill>
                <a:latin typeface="Bahnschrift Light Condensed" panose="020B0502040204020203" pitchFamily="34" charset="0"/>
              </a:rPr>
              <a:t>: </a:t>
            </a:r>
            <a:r>
              <a:rPr lang="en-US" sz="1100" dirty="0" err="1">
                <a:latin typeface="Bahnschrift Light Condensed" panose="020B0502040204020203" pitchFamily="34" charset="0"/>
              </a:rPr>
              <a:t>Sun'iy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intellekt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yordamida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qayta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tiklanuvchi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energiya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manbalari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boshqariladi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va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samaradorlik</a:t>
            </a:r>
            <a:r>
              <a:rPr lang="en-US" sz="1100" dirty="0">
                <a:latin typeface="Bahnschrift Light Condensed" panose="020B0502040204020203" pitchFamily="34" charset="0"/>
              </a:rPr>
              <a:t> </a:t>
            </a:r>
            <a:r>
              <a:rPr lang="en-US" sz="1100" dirty="0" err="1">
                <a:latin typeface="Bahnschrift Light Condensed" panose="020B0502040204020203" pitchFamily="34" charset="0"/>
              </a:rPr>
              <a:t>oshiriladi</a:t>
            </a:r>
            <a:r>
              <a:rPr lang="en-US" sz="1100" dirty="0">
                <a:latin typeface="Bahnschrift Light Condensed" panose="020B0502040204020203" pitchFamily="34" charset="0"/>
              </a:rPr>
              <a:t>.</a:t>
            </a:r>
            <a:endParaRPr lang="ru-RU" sz="1100" dirty="0">
              <a:latin typeface="Bahnschrift Light Condensed" panose="020B0502040204020203" pitchFamily="34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AC3333EF-75C9-12F7-FF75-381F8DDE7CDA}"/>
              </a:ext>
            </a:extLst>
          </p:cNvPr>
          <p:cNvSpPr/>
          <p:nvPr/>
        </p:nvSpPr>
        <p:spPr>
          <a:xfrm>
            <a:off x="8420487" y="3759913"/>
            <a:ext cx="403200" cy="331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 Condensed" panose="020B0502040204020203" pitchFamily="34" charset="0"/>
              </a:rPr>
              <a:t>12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0CB47C2-E372-E5CC-76F7-A1BA89246931}"/>
              </a:ext>
            </a:extLst>
          </p:cNvPr>
          <p:cNvCxnSpPr>
            <a:cxnSpLocks/>
          </p:cNvCxnSpPr>
          <p:nvPr/>
        </p:nvCxnSpPr>
        <p:spPr>
          <a:xfrm>
            <a:off x="565502" y="1460916"/>
            <a:ext cx="312390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F595A2B-03D1-A676-D306-AF4AE10CA3C9}"/>
              </a:ext>
            </a:extLst>
          </p:cNvPr>
          <p:cNvCxnSpPr>
            <a:cxnSpLocks/>
          </p:cNvCxnSpPr>
          <p:nvPr/>
        </p:nvCxnSpPr>
        <p:spPr>
          <a:xfrm>
            <a:off x="565502" y="4090826"/>
            <a:ext cx="312390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89A7211D-8EAF-54CA-2C3E-6BC36F5F2627}"/>
              </a:ext>
            </a:extLst>
          </p:cNvPr>
          <p:cNvCxnSpPr>
            <a:cxnSpLocks/>
          </p:cNvCxnSpPr>
          <p:nvPr/>
        </p:nvCxnSpPr>
        <p:spPr>
          <a:xfrm>
            <a:off x="4534048" y="1460916"/>
            <a:ext cx="312390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771A9FC8-5255-4306-E804-70435C13846F}"/>
              </a:ext>
            </a:extLst>
          </p:cNvPr>
          <p:cNvCxnSpPr>
            <a:cxnSpLocks/>
          </p:cNvCxnSpPr>
          <p:nvPr/>
        </p:nvCxnSpPr>
        <p:spPr>
          <a:xfrm>
            <a:off x="4534048" y="4085484"/>
            <a:ext cx="312390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B46A7683-E69B-9F0F-3B82-019842765CFA}"/>
              </a:ext>
            </a:extLst>
          </p:cNvPr>
          <p:cNvCxnSpPr>
            <a:cxnSpLocks/>
          </p:cNvCxnSpPr>
          <p:nvPr/>
        </p:nvCxnSpPr>
        <p:spPr>
          <a:xfrm>
            <a:off x="8426588" y="4085484"/>
            <a:ext cx="30960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EF2CE05-C7D0-04FB-13DA-711DED367600}"/>
              </a:ext>
            </a:extLst>
          </p:cNvPr>
          <p:cNvCxnSpPr>
            <a:cxnSpLocks/>
          </p:cNvCxnSpPr>
          <p:nvPr/>
        </p:nvCxnSpPr>
        <p:spPr>
          <a:xfrm>
            <a:off x="8426588" y="1460916"/>
            <a:ext cx="30960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13902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1570</Words>
  <Application>Microsoft Office PowerPoint</Application>
  <PresentationFormat>Широкоэкранный</PresentationFormat>
  <Paragraphs>121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Aptos</vt:lpstr>
      <vt:lpstr>Arial</vt:lpstr>
      <vt:lpstr>Bahnschrift Light Condensed</vt:lpstr>
      <vt:lpstr>Bahnschrift SemiBold Condensed</vt:lpstr>
      <vt:lpstr>Roboto</vt:lpstr>
      <vt:lpstr>Seaford</vt:lpstr>
      <vt:lpstr>LevelVTI</vt:lpstr>
      <vt:lpstr>1-MA’RUZA. SUN'IY INTELLEKTGA FANIGA KIRISH VA UNING RIVOJLANISH TARIXI</vt:lpstr>
      <vt:lpstr>Sun’iy intellekt nima?</vt:lpstr>
      <vt:lpstr>TARIX</vt:lpstr>
      <vt:lpstr>Sun'iy intellektning evolyutsiyasi</vt:lpstr>
      <vt:lpstr>Sun’iy intellekt (AI) </vt:lpstr>
      <vt:lpstr>SUN’IY INTELLEKT TIZIMLARINI YARATISH UCHUN QANDAY DASTURLASH TILLARIDAN FOYDALANILADI?</vt:lpstr>
      <vt:lpstr>SUN’IY INTELLEKT TIZIMLARINI YARATISH UCHUN QANDAY DASTURLASH TILLARIDAN FOYDALANILADI?</vt:lpstr>
      <vt:lpstr>HOZIRDA SUN’IY INTELLEKT QAYSI SOHALARDA FOYDALANIB KELINMOQDA? </vt:lpstr>
      <vt:lpstr>HOZIRDA SUN’IY INTELLEKT QAYSI SOHALARDA FOYDALANIB KELINMOQDA?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Qudrat Yuldashev</dc:creator>
  <cp:lastModifiedBy>Qudrat Yuldashev</cp:lastModifiedBy>
  <cp:revision>49</cp:revision>
  <dcterms:created xsi:type="dcterms:W3CDTF">2024-09-10T07:02:05Z</dcterms:created>
  <dcterms:modified xsi:type="dcterms:W3CDTF">2024-09-20T05:47:57Z</dcterms:modified>
</cp:coreProperties>
</file>